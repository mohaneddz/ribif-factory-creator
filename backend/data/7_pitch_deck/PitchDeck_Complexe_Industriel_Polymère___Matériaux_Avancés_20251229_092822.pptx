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et bienvenue à notre présentation. Nous sommes l'équipe de direction d'ALLO MAISON. Nous sommes ravis de vous présenter notre projet ambitieux : une solution innovante de production industrielle automatisée de matériaux polymères et composites. Notre objectif est de transformer le secteur avec efficacité et durabilité. Merci de votre présence.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Actuellement, il y a un manque critique de production locale pour des matériaux essentiels comme les polymères et les composites, ainsi que des solutions constructives. Cela force le pays à dépendre lourdement des importations, qui sont souvent coûteuses et sujettes à de longs délais de livraison. Cette situation engendre un impact économique majeur, et des études montrent qu'un investissement de 7604.2 milliards DZD est nécessaire pour combler ce déficit de production.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solution repose sur la production locale de matériaux de construction innovants et de haute qualité. Nous fabriquons des panneaux polymères, des revêtements de sol SPC et des portes spécialisées, ciblant le marché local. Cette approche permet de réduire la dépendance aux importations et de créer une chaîne de valeur durable en France, offrant des produits performants et adaptés aux besoins spécifiques de nos clients.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analyse révèle un TAM substantiel, indiquant un potentiel de marché énorme. Le SAM représente la portion que nous pouvons réellement atteindre, et notre SOM est une cible réaliste. Le soutien par la politique nationale de substitution aux importations et la forte croissance industrielle créent un moment opportun pour notre entrée et expansion sur ce marché.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diapositive met en lumière notre capacité de production. Nous disposons d'équipements de pointe, y compris des presses à injection plastique et des extrudeuses bi-vis, permettant une fabrication de haute précision. Notre processus est entièrement intégré, de l'extrusion de polymères au thermoformage XL, assurant une efficacité optimale. Cela nous permet de fabriquer des Panneaux Composites Structurels (SPC) innovants, adaptés à diverses applications industrielles.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modèle économique est axé sur des ventes B2B directes et des contrats industriels à long terme, garantissant une croissance stable. Nous projetons un chiffre d'affaires annuel de 2.28 T DZD et un MRR de 190.1 milliards DZD, démontrant la robustesse de nos revenus et de nos partenariats. Ce modèle nous positionne favorablement pour l'expansion future.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déjà accompli des étapes importantes, ce qui démontre la viabilité de notre modèle. L'avancement de nos certifications ISO 9001 et CE/ECE R43 est essentiel pour garantir la qualité et la conformité de nos produits. Notre capacité opérationnelle est solide, avec 12 machines en production et un portefeuille diversifié de 10 gammes de produits innovants. Enfin, notre équipe expérimentée est la force motrice derrière notre succès et notre croissance future. Ces éléments combinés attestent de notre capacité à exécuter notre stratégie et à croître.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slide présente notre stratégie commerciale structurée. Nous mettons l'accent sur les ventes directes aux industriels et renforçons notre présence via les salons. Notre logistique est efficace, avec une production locale assurant des livraisons nationales rapides en moins de deux semaines. Le cycle de vente B2B est optimisé à 2-4 mois, grâce à un ciblage très précis, ce qui maximise notre efficacité commerciale et nos opportunités de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cette slide, nous allons aborder le paysage concurrentiel. Nous commençons par décrire les acteurs majeurs, qui incluent des importateurs et une production locale fragmentée. Ensuite, nous détaillerons notre positionnement unique sur le marché et, enfin, nous mettrons en lumière nos avantages concurrentiels clés qui nous distinguent. Cela comprend notre expertise locale et nos partenariats.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 MAISON ambitionne de dominer la substitution des importations de matériaux polymères en Algérie. Un investissement stratégique de 7604.2 milliards DZD est crucial pour capitaliser sur un marché local immense. Nous promettons une croissance solide grâce à une production locale de haute qualité. Rejoignez notre vision pour transformer durablement l'industrie locale et générer un impact économique significatif.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14.png"/><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9.png"/><Relationship Id="rId6" Type="http://schemas.openxmlformats.org/officeDocument/2006/relationships/image" Target="../media/image10.png"/><Relationship Id="rId7" Type="http://schemas.openxmlformats.org/officeDocument/2006/relationships/image" Target="../media/image20.png"/><Relationship Id="rId8"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6416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ebafc522-6c95-4595-84a1-8d86c5d580ea.png"/>
          <p:cNvPicPr>
            <a:picLocks noChangeAspect="1"/>
          </p:cNvPicPr>
          <p:nvPr/>
        </p:nvPicPr>
        <p:blipFill>
          <a:blip r:embed="rId3"/>
          <a:stretch>
            <a:fillRect/>
          </a:stretch>
        </p:blipFill>
        <p:spPr>
          <a:xfrm>
            <a:off x="1117600" y="2641600"/>
            <a:ext cx="6502400" cy="4064000"/>
          </a:xfrm>
          <a:prstGeom prst="rect">
            <a:avLst/>
          </a:prstGeom>
        </p:spPr>
      </p:pic>
      <p:sp>
        <p:nvSpPr>
          <p:cNvPr id="4" name="TextBox 3"/>
          <p:cNvSpPr txBox="1"/>
          <p:nvPr/>
        </p:nvSpPr>
        <p:spPr>
          <a:xfrm>
            <a:off x="8534400" y="24257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ALLO MAISON - Pitch Investisseur</a:t>
            </a:r>
          </a:p>
        </p:txBody>
      </p:sp>
      <p:sp>
        <p:nvSpPr>
          <p:cNvPr id="5" name="Rounded Rectangle 4"/>
          <p:cNvSpPr/>
          <p:nvPr/>
        </p:nvSpPr>
        <p:spPr>
          <a:xfrm>
            <a:off x="8534400" y="42545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610100"/>
            <a:ext cx="6731000" cy="7112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Projet de production industrielle automatisée de matériaux polymères et composites. Innovation pour un futur durable et efficace.</a:t>
            </a:r>
          </a:p>
        </p:txBody>
      </p:sp>
      <p:sp>
        <p:nvSpPr>
          <p:cNvPr id="7" name="Rounded Rectangle 6"/>
          <p:cNvSpPr/>
          <p:nvPr/>
        </p:nvSpPr>
        <p:spPr>
          <a:xfrm>
            <a:off x="8534400" y="5626100"/>
            <a:ext cx="6705600" cy="1295400"/>
          </a:xfrm>
          <a:prstGeom prst="roundRect">
            <a:avLst>
              <a:gd name="adj" fmla="val 7843"/>
            </a:avLst>
          </a:prstGeom>
          <a:solidFill>
            <a:srgbClr val="FFFFFF">
              <a:alpha val="50000"/>
            </a:srgbClr>
          </a:solidFill>
          <a:ln w="12700">
            <a:solidFill>
              <a:srgbClr val="E5E7EB"/>
            </a:solidFill>
          </a:ln>
          <a:effectLst>
            <a:outerShdw blurRad="25400" dir="5400000" dist="12700" rotWithShape="0">
              <a:srgbClr val="000000">
                <a:alpha val="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8851900" y="59690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8940800" y="6121400"/>
            <a:ext cx="457200" cy="304800"/>
          </a:xfrm>
          <a:prstGeom prst="rect">
            <a:avLst/>
          </a:prstGeom>
          <a:noFill/>
        </p:spPr>
        <p:txBody>
          <a:bodyPr wrap="square" lIns="0" rIns="0" tIns="0" bIns="0">
            <a:spAutoFit/>
          </a:bodyPr>
          <a:lstStyle/>
          <a:p>
            <a:pPr algn="l">
              <a:defRPr i="0" sz="1600" b="1">
                <a:solidFill>
                  <a:srgbClr val="FFFFFF"/>
                </a:solidFill>
                <a:latin typeface="Inter"/>
              </a:defRPr>
            </a:pPr>
            <a:r>
              <a:rPr i="0" sz="1600" b="1">
                <a:solidFill>
                  <a:srgbClr val="FFFFFF"/>
                </a:solidFill>
                <a:latin typeface="Inter"/>
              </a:rPr>
              <a:t>LDD</a:t>
            </a:r>
          </a:p>
        </p:txBody>
      </p:sp>
      <p:sp>
        <p:nvSpPr>
          <p:cNvPr id="10" name="TextBox 9"/>
          <p:cNvSpPr txBox="1"/>
          <p:nvPr/>
        </p:nvSpPr>
        <p:spPr>
          <a:xfrm>
            <a:off x="9664700" y="5943600"/>
            <a:ext cx="23368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l'Équipe de Direction</a:t>
            </a:r>
          </a:p>
        </p:txBody>
      </p:sp>
      <p:sp>
        <p:nvSpPr>
          <p:cNvPr id="11" name="TextBox 10"/>
          <p:cNvSpPr txBox="1"/>
          <p:nvPr/>
        </p:nvSpPr>
        <p:spPr>
          <a:xfrm>
            <a:off x="9664700" y="6299200"/>
            <a:ext cx="2336800" cy="3048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2025-12-29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9a22d774-dd56-4ca8-98cc-c3e46d77aaf7.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3302000"/>
            <a:ext cx="67310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Le Problème</a:t>
            </a:r>
          </a:p>
        </p:txBody>
      </p:sp>
      <p:sp>
        <p:nvSpPr>
          <p:cNvPr id="5" name="Rounded Rectangle 4"/>
          <p:cNvSpPr/>
          <p:nvPr/>
        </p:nvSpPr>
        <p:spPr>
          <a:xfrm>
            <a:off x="8534400" y="43688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724400"/>
            <a:ext cx="6731000" cy="7112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Manque crucial de production locale de polymères et composites. Dépendance aux importations onéreuses.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Notre Solution</a:t>
            </a:r>
          </a:p>
        </p:txBody>
      </p:sp>
      <p:pic>
        <p:nvPicPr>
          <p:cNvPr id="3" name="Picture 2" descr="71a630e1-84ad-426b-855b-c990918e70bf.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4e7370fd-2ce1-420b-a43a-8d0c49e4e008.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438400"/>
            <a:ext cx="6731000" cy="7493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Nous proposons une gamme complète de produits de construction innovants, fabriqués localement pour répondre aux besoins du marché.</a:t>
            </a:r>
          </a:p>
        </p:txBody>
      </p:sp>
      <p:sp>
        <p:nvSpPr>
          <p:cNvPr id="6" name="Rounded Rectangle 5"/>
          <p:cNvSpPr/>
          <p:nvPr/>
        </p:nvSpPr>
        <p:spPr>
          <a:xfrm>
            <a:off x="8534400" y="35814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ac522680-6f45-4ec6-8a74-dc5dc5b6b554.png"/>
          <p:cNvPicPr>
            <a:picLocks noChangeAspect="1"/>
          </p:cNvPicPr>
          <p:nvPr/>
        </p:nvPicPr>
        <p:blipFill>
          <a:blip r:embed="rId5"/>
          <a:stretch>
            <a:fillRect/>
          </a:stretch>
        </p:blipFill>
        <p:spPr>
          <a:xfrm>
            <a:off x="8686800" y="3746500"/>
            <a:ext cx="304800" cy="304800"/>
          </a:xfrm>
          <a:prstGeom prst="rect">
            <a:avLst/>
          </a:prstGeom>
        </p:spPr>
      </p:pic>
      <p:sp>
        <p:nvSpPr>
          <p:cNvPr id="8" name="TextBox 7"/>
          <p:cNvSpPr txBox="1"/>
          <p:nvPr/>
        </p:nvSpPr>
        <p:spPr>
          <a:xfrm>
            <a:off x="9347200" y="35814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Production de Matériaux Avancés</a:t>
            </a:r>
          </a:p>
        </p:txBody>
      </p:sp>
      <p:sp>
        <p:nvSpPr>
          <p:cNvPr id="9" name="Rounded Rectangle 8"/>
          <p:cNvSpPr/>
          <p:nvPr/>
        </p:nvSpPr>
        <p:spPr>
          <a:xfrm>
            <a:off x="9347200" y="40386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2164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Fabrication locale de panneaux polymères, composites et murs décoratifs techniques.</a:t>
            </a:r>
          </a:p>
        </p:txBody>
      </p:sp>
      <p:sp>
        <p:nvSpPr>
          <p:cNvPr id="11" name="Rounded Rectangle 10"/>
          <p:cNvSpPr/>
          <p:nvPr/>
        </p:nvSpPr>
        <p:spPr>
          <a:xfrm>
            <a:off x="8534400" y="51816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a409cbb0-8c16-474d-8c3f-78f6101176ff.png"/>
          <p:cNvPicPr>
            <a:picLocks noChangeAspect="1"/>
          </p:cNvPicPr>
          <p:nvPr/>
        </p:nvPicPr>
        <p:blipFill>
          <a:blip r:embed="rId6"/>
          <a:stretch>
            <a:fillRect/>
          </a:stretch>
        </p:blipFill>
        <p:spPr>
          <a:xfrm>
            <a:off x="8686800" y="5346700"/>
            <a:ext cx="304800" cy="304800"/>
          </a:xfrm>
          <a:prstGeom prst="rect">
            <a:avLst/>
          </a:prstGeom>
        </p:spPr>
      </p:pic>
      <p:sp>
        <p:nvSpPr>
          <p:cNvPr id="13" name="TextBox 12"/>
          <p:cNvSpPr txBox="1"/>
          <p:nvPr/>
        </p:nvSpPr>
        <p:spPr>
          <a:xfrm>
            <a:off x="9347200" y="51816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Revêtements de Sol SPC</a:t>
            </a:r>
          </a:p>
        </p:txBody>
      </p:sp>
      <p:sp>
        <p:nvSpPr>
          <p:cNvPr id="14" name="Rounded Rectangle 13"/>
          <p:cNvSpPr/>
          <p:nvPr/>
        </p:nvSpPr>
        <p:spPr>
          <a:xfrm>
            <a:off x="9347200" y="56388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58166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Sols SPC durables avec système de clic étanche, pour une installation rapide et fiable.</a:t>
            </a:r>
          </a:p>
        </p:txBody>
      </p:sp>
      <p:sp>
        <p:nvSpPr>
          <p:cNvPr id="16" name="Rounded Rectangle 15"/>
          <p:cNvSpPr/>
          <p:nvPr/>
        </p:nvSpPr>
        <p:spPr>
          <a:xfrm>
            <a:off x="8534400" y="67818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830133c4-b4e1-4e7b-9547-16e2c4a08a3d.png"/>
          <p:cNvPicPr>
            <a:picLocks noChangeAspect="1"/>
          </p:cNvPicPr>
          <p:nvPr/>
        </p:nvPicPr>
        <p:blipFill>
          <a:blip r:embed="rId7"/>
          <a:stretch>
            <a:fillRect/>
          </a:stretch>
        </p:blipFill>
        <p:spPr>
          <a:xfrm>
            <a:off x="8686800" y="6946900"/>
            <a:ext cx="304800" cy="304800"/>
          </a:xfrm>
          <a:prstGeom prst="rect">
            <a:avLst/>
          </a:prstGeom>
        </p:spPr>
      </p:pic>
      <p:sp>
        <p:nvSpPr>
          <p:cNvPr id="18" name="TextBox 17"/>
          <p:cNvSpPr txBox="1"/>
          <p:nvPr/>
        </p:nvSpPr>
        <p:spPr>
          <a:xfrm>
            <a:off x="9347200" y="67818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Portes Polymères Spécialisées</a:t>
            </a:r>
          </a:p>
        </p:txBody>
      </p:sp>
      <p:sp>
        <p:nvSpPr>
          <p:cNvPr id="19" name="Rounded Rectangle 18"/>
          <p:cNvSpPr/>
          <p:nvPr/>
        </p:nvSpPr>
        <p:spPr>
          <a:xfrm>
            <a:off x="9347200" y="72390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4168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Gamme de portes intérieures, extérieures et techniques en polymère, grand format.</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29b79a5c-fee7-4dcb-a841-f73928f9630f.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7f272d97-a03d-4e80-a556-5f03d95f4f81.png"/>
          <p:cNvPicPr>
            <a:picLocks noChangeAspect="1"/>
          </p:cNvPicPr>
          <p:nvPr/>
        </p:nvPicPr>
        <p:blipFill>
          <a:blip r:embed="rId3"/>
          <a:stretch>
            <a:fillRect/>
          </a:stretch>
        </p:blipFill>
        <p:spPr>
          <a:xfrm>
            <a:off x="0" y="0"/>
            <a:ext cx="3251200" cy="9144000"/>
          </a:xfrm>
          <a:prstGeom prst="rect">
            <a:avLst/>
          </a:prstGeom>
        </p:spPr>
      </p:pic>
      <p:pic>
        <p:nvPicPr>
          <p:cNvPr id="3" name="Picture 2" descr="7f272d97-a03d-4e80-a556-5f03d95f4f81.png"/>
          <p:cNvPicPr>
            <a:picLocks noChangeAspect="1"/>
          </p:cNvPicPr>
          <p:nvPr/>
        </p:nvPicPr>
        <p:blipFill>
          <a:blip r:embed="rId3"/>
          <a:stretch>
            <a:fillRect/>
          </a:stretch>
        </p:blipFill>
        <p:spPr>
          <a:xfrm>
            <a:off x="13004800" y="0"/>
            <a:ext cx="3251200" cy="9144000"/>
          </a:xfrm>
          <a:prstGeom prst="rect">
            <a:avLst/>
          </a:prstGeom>
        </p:spPr>
      </p:pic>
      <p:sp>
        <p:nvSpPr>
          <p:cNvPr id="4" name="TextBox 3"/>
          <p:cNvSpPr txBox="1"/>
          <p:nvPr/>
        </p:nvSpPr>
        <p:spPr>
          <a:xfrm>
            <a:off x="1016000" y="2616200"/>
            <a:ext cx="14249400" cy="762000"/>
          </a:xfrm>
          <a:prstGeom prst="rect">
            <a:avLst/>
          </a:prstGeom>
          <a:noFill/>
        </p:spPr>
        <p:txBody>
          <a:bodyPr wrap="square" lIns="0" rIns="0" tIns="0" bIns="0">
            <a:spAutoFit/>
          </a:bodyPr>
          <a:lstStyle/>
          <a:p>
            <a:pPr algn="ctr">
              <a:lnSpc>
                <a:spcPct val="70000"/>
              </a:lnSpc>
              <a:defRPr i="0" sz="6000" b="1">
                <a:solidFill>
                  <a:srgbClr val="111827"/>
                </a:solidFill>
                <a:latin typeface="Inter"/>
              </a:defRPr>
            </a:pPr>
            <a:r>
              <a:rPr i="0" sz="6000" b="1">
                <a:solidFill>
                  <a:srgbClr val="111827"/>
                </a:solidFill>
                <a:latin typeface="Inter"/>
              </a:rPr>
              <a:t>Taille du Marché</a:t>
            </a:r>
          </a:p>
        </p:txBody>
      </p:sp>
      <p:sp>
        <p:nvSpPr>
          <p:cNvPr id="5" name="TextBox 4"/>
          <p:cNvSpPr txBox="1"/>
          <p:nvPr/>
        </p:nvSpPr>
        <p:spPr>
          <a:xfrm>
            <a:off x="1016000" y="3987800"/>
            <a:ext cx="44958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Marché Total (TAM)</a:t>
            </a:r>
          </a:p>
        </p:txBody>
      </p:sp>
      <p:sp>
        <p:nvSpPr>
          <p:cNvPr id="6" name="TextBox 5"/>
          <p:cNvSpPr txBox="1"/>
          <p:nvPr/>
        </p:nvSpPr>
        <p:spPr>
          <a:xfrm>
            <a:off x="1016000" y="4445000"/>
            <a:ext cx="44958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152 084 Md</a:t>
            </a:r>
          </a:p>
        </p:txBody>
      </p:sp>
      <p:sp>
        <p:nvSpPr>
          <p:cNvPr id="7" name="Rounded Rectangle 6"/>
          <p:cNvSpPr/>
          <p:nvPr/>
        </p:nvSpPr>
        <p:spPr>
          <a:xfrm>
            <a:off x="1016000" y="5410200"/>
            <a:ext cx="4470400" cy="1016000"/>
          </a:xfrm>
          <a:prstGeom prst="roundRect">
            <a:avLst>
              <a:gd name="adj" fmla="val 1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1270000" y="5664200"/>
            <a:ext cx="3987800" cy="508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Potentiel maximum du marché si notre solution capte 100% des parts disponibles.</a:t>
            </a:r>
          </a:p>
        </p:txBody>
      </p:sp>
      <p:sp>
        <p:nvSpPr>
          <p:cNvPr id="9" name="TextBox 8"/>
          <p:cNvSpPr txBox="1"/>
          <p:nvPr/>
        </p:nvSpPr>
        <p:spPr>
          <a:xfrm>
            <a:off x="5892800" y="3987800"/>
            <a:ext cx="44958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Marché Ciblable (SAM)</a:t>
            </a:r>
          </a:p>
        </p:txBody>
      </p:sp>
      <p:sp>
        <p:nvSpPr>
          <p:cNvPr id="10" name="TextBox 9"/>
          <p:cNvSpPr txBox="1"/>
          <p:nvPr/>
        </p:nvSpPr>
        <p:spPr>
          <a:xfrm>
            <a:off x="5892800" y="4445000"/>
            <a:ext cx="44958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60 833 Md</a:t>
            </a:r>
          </a:p>
        </p:txBody>
      </p:sp>
      <p:sp>
        <p:nvSpPr>
          <p:cNvPr id="11" name="Rounded Rectangle 10"/>
          <p:cNvSpPr/>
          <p:nvPr/>
        </p:nvSpPr>
        <p:spPr>
          <a:xfrm>
            <a:off x="5892800" y="5410200"/>
            <a:ext cx="4470400" cy="1016000"/>
          </a:xfrm>
          <a:prstGeom prst="roundRect">
            <a:avLst>
              <a:gd name="adj" fmla="val 1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6146800" y="5664200"/>
            <a:ext cx="3987800" cy="508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Part du marché total que notre entreprise peut servir avec son modèle économique actuel.</a:t>
            </a:r>
          </a:p>
        </p:txBody>
      </p:sp>
      <p:sp>
        <p:nvSpPr>
          <p:cNvPr id="13" name="TextBox 12"/>
          <p:cNvSpPr txBox="1"/>
          <p:nvPr/>
        </p:nvSpPr>
        <p:spPr>
          <a:xfrm>
            <a:off x="10769600" y="3987800"/>
            <a:ext cx="44958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Marché Obtenable (SOM)</a:t>
            </a:r>
          </a:p>
        </p:txBody>
      </p:sp>
      <p:sp>
        <p:nvSpPr>
          <p:cNvPr id="14" name="TextBox 13"/>
          <p:cNvSpPr txBox="1"/>
          <p:nvPr/>
        </p:nvSpPr>
        <p:spPr>
          <a:xfrm>
            <a:off x="10769600" y="4445000"/>
            <a:ext cx="44958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15 208 Md</a:t>
            </a:r>
          </a:p>
        </p:txBody>
      </p:sp>
      <p:sp>
        <p:nvSpPr>
          <p:cNvPr id="15" name="Rounded Rectangle 14"/>
          <p:cNvSpPr/>
          <p:nvPr/>
        </p:nvSpPr>
        <p:spPr>
          <a:xfrm>
            <a:off x="10769600" y="5410200"/>
            <a:ext cx="4470400" cy="1016000"/>
          </a:xfrm>
          <a:prstGeom prst="roundRect">
            <a:avLst>
              <a:gd name="adj" fmla="val 1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11023600" y="5664200"/>
            <a:ext cx="3987800" cy="508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Segment réaliste du SAM que nous prévoyons de conquérir à court et moyen terme.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Notre Produit &amp; Processus</a:t>
            </a:r>
          </a:p>
        </p:txBody>
      </p:sp>
      <p:pic>
        <p:nvPicPr>
          <p:cNvPr id="3" name="Picture 2" descr="71a630e1-84ad-426b-855b-c990918e70bf.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4e7370fd-2ce1-420b-a43a-8d0c49e4e008.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438400"/>
            <a:ext cx="6731000" cy="7493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Nous utilisons une technologie industrielle avancée pour concevoir et fabriquer des produits innovants de haute qualité.</a:t>
            </a:r>
          </a:p>
        </p:txBody>
      </p:sp>
      <p:sp>
        <p:nvSpPr>
          <p:cNvPr id="6" name="Rounded Rectangle 5"/>
          <p:cNvSpPr/>
          <p:nvPr/>
        </p:nvSpPr>
        <p:spPr>
          <a:xfrm>
            <a:off x="8534400" y="35814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d5363e78-5796-439f-a9a1-d9886337c5c6.png"/>
          <p:cNvPicPr>
            <a:picLocks noChangeAspect="1"/>
          </p:cNvPicPr>
          <p:nvPr/>
        </p:nvPicPr>
        <p:blipFill>
          <a:blip r:embed="rId5"/>
          <a:stretch>
            <a:fillRect/>
          </a:stretch>
        </p:blipFill>
        <p:spPr>
          <a:xfrm>
            <a:off x="8686800" y="3746500"/>
            <a:ext cx="304800" cy="304800"/>
          </a:xfrm>
          <a:prstGeom prst="rect">
            <a:avLst/>
          </a:prstGeom>
        </p:spPr>
      </p:pic>
      <p:sp>
        <p:nvSpPr>
          <p:cNvPr id="8" name="TextBox 7"/>
          <p:cNvSpPr txBox="1"/>
          <p:nvPr/>
        </p:nvSpPr>
        <p:spPr>
          <a:xfrm>
            <a:off x="9347200" y="35814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Équipements de pointe</a:t>
            </a:r>
          </a:p>
        </p:txBody>
      </p:sp>
      <p:sp>
        <p:nvSpPr>
          <p:cNvPr id="9" name="Rounded Rectangle 8"/>
          <p:cNvSpPr/>
          <p:nvPr/>
        </p:nvSpPr>
        <p:spPr>
          <a:xfrm>
            <a:off x="9347200" y="40386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2164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Presse à injection plastique, extrudeuse bi-vis conique et thermoformage grand format.</a:t>
            </a:r>
          </a:p>
        </p:txBody>
      </p:sp>
      <p:sp>
        <p:nvSpPr>
          <p:cNvPr id="11" name="Rounded Rectangle 10"/>
          <p:cNvSpPr/>
          <p:nvPr/>
        </p:nvSpPr>
        <p:spPr>
          <a:xfrm>
            <a:off x="8534400" y="51816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d5363e78-5796-439f-a9a1-d9886337c5c6.png"/>
          <p:cNvPicPr>
            <a:picLocks noChangeAspect="1"/>
          </p:cNvPicPr>
          <p:nvPr/>
        </p:nvPicPr>
        <p:blipFill>
          <a:blip r:embed="rId5"/>
          <a:stretch>
            <a:fillRect/>
          </a:stretch>
        </p:blipFill>
        <p:spPr>
          <a:xfrm>
            <a:off x="8686800" y="5346700"/>
            <a:ext cx="304800" cy="304800"/>
          </a:xfrm>
          <a:prstGeom prst="rect">
            <a:avLst/>
          </a:prstGeom>
        </p:spPr>
      </p:pic>
      <p:sp>
        <p:nvSpPr>
          <p:cNvPr id="13" name="TextBox 12"/>
          <p:cNvSpPr txBox="1"/>
          <p:nvPr/>
        </p:nvSpPr>
        <p:spPr>
          <a:xfrm>
            <a:off x="9347200" y="51816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Processus intégré</a:t>
            </a:r>
          </a:p>
        </p:txBody>
      </p:sp>
      <p:sp>
        <p:nvSpPr>
          <p:cNvPr id="14" name="Rounded Rectangle 13"/>
          <p:cNvSpPr/>
          <p:nvPr/>
        </p:nvSpPr>
        <p:spPr>
          <a:xfrm>
            <a:off x="9347200" y="56388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58166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Extrusion de polymères, moulage par injection et thermoformage XL pour une production fluide.</a:t>
            </a:r>
          </a:p>
        </p:txBody>
      </p:sp>
      <p:sp>
        <p:nvSpPr>
          <p:cNvPr id="16" name="Rounded Rectangle 15"/>
          <p:cNvSpPr/>
          <p:nvPr/>
        </p:nvSpPr>
        <p:spPr>
          <a:xfrm>
            <a:off x="8534400" y="67818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e36591c1-41a2-4a91-b039-afc7e5e2a910.png"/>
          <p:cNvPicPr>
            <a:picLocks noChangeAspect="1"/>
          </p:cNvPicPr>
          <p:nvPr/>
        </p:nvPicPr>
        <p:blipFill>
          <a:blip r:embed="rId6"/>
          <a:stretch>
            <a:fillRect/>
          </a:stretch>
        </p:blipFill>
        <p:spPr>
          <a:xfrm>
            <a:off x="8686800" y="6946900"/>
            <a:ext cx="304800" cy="304800"/>
          </a:xfrm>
          <a:prstGeom prst="rect">
            <a:avLst/>
          </a:prstGeom>
        </p:spPr>
      </p:pic>
      <p:sp>
        <p:nvSpPr>
          <p:cNvPr id="18" name="TextBox 17"/>
          <p:cNvSpPr txBox="1"/>
          <p:nvPr/>
        </p:nvSpPr>
        <p:spPr>
          <a:xfrm>
            <a:off x="9347200" y="67818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Fabrication de Panneaux</a:t>
            </a:r>
          </a:p>
        </p:txBody>
      </p:sp>
      <p:sp>
        <p:nvSpPr>
          <p:cNvPr id="19" name="Rounded Rectangle 18"/>
          <p:cNvSpPr/>
          <p:nvPr/>
        </p:nvSpPr>
        <p:spPr>
          <a:xfrm>
            <a:off x="9347200" y="72390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4168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Production de Panneaux Composites Structurels (SPC) avec des propriétés améliorées.</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a2fda62e-f206-4a27-9118-de14e4312bdb.png"/>
          <p:cNvPicPr>
            <a:picLocks noChangeAspect="1"/>
          </p:cNvPicPr>
          <p:nvPr/>
        </p:nvPicPr>
        <p:blipFill>
          <a:blip r:embed="rId7"/>
          <a:stretch>
            <a:fillRect/>
          </a:stretch>
        </p:blipFill>
        <p:spPr>
          <a:xfrm>
            <a:off x="1524000" y="3225800"/>
            <a:ext cx="5689600" cy="4064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7f272d97-a03d-4e80-a556-5f03d95f4f81.png"/>
          <p:cNvPicPr>
            <a:picLocks noChangeAspect="1"/>
          </p:cNvPicPr>
          <p:nvPr/>
        </p:nvPicPr>
        <p:blipFill>
          <a:blip r:embed="rId3"/>
          <a:stretch>
            <a:fillRect/>
          </a:stretch>
        </p:blipFill>
        <p:spPr>
          <a:xfrm>
            <a:off x="0" y="0"/>
            <a:ext cx="3251200" cy="9144000"/>
          </a:xfrm>
          <a:prstGeom prst="rect">
            <a:avLst/>
          </a:prstGeom>
        </p:spPr>
      </p:pic>
      <p:pic>
        <p:nvPicPr>
          <p:cNvPr id="3" name="Picture 2" descr="7f272d97-a03d-4e80-a556-5f03d95f4f81.png"/>
          <p:cNvPicPr>
            <a:picLocks noChangeAspect="1"/>
          </p:cNvPicPr>
          <p:nvPr/>
        </p:nvPicPr>
        <p:blipFill>
          <a:blip r:embed="rId3"/>
          <a:stretch>
            <a:fillRect/>
          </a:stretch>
        </p:blipFill>
        <p:spPr>
          <a:xfrm>
            <a:off x="13004800" y="0"/>
            <a:ext cx="3251200" cy="9144000"/>
          </a:xfrm>
          <a:prstGeom prst="rect">
            <a:avLst/>
          </a:prstGeom>
        </p:spPr>
      </p:pic>
      <p:sp>
        <p:nvSpPr>
          <p:cNvPr id="4" name="TextBox 3"/>
          <p:cNvSpPr txBox="1"/>
          <p:nvPr/>
        </p:nvSpPr>
        <p:spPr>
          <a:xfrm>
            <a:off x="1016000" y="2616200"/>
            <a:ext cx="14249400" cy="762000"/>
          </a:xfrm>
          <a:prstGeom prst="rect">
            <a:avLst/>
          </a:prstGeom>
          <a:noFill/>
        </p:spPr>
        <p:txBody>
          <a:bodyPr wrap="square" lIns="0" rIns="0" tIns="0" bIns="0">
            <a:spAutoFit/>
          </a:bodyPr>
          <a:lstStyle/>
          <a:p>
            <a:pPr algn="ctr">
              <a:lnSpc>
                <a:spcPct val="70000"/>
              </a:lnSpc>
              <a:defRPr i="0" sz="6000" b="1">
                <a:solidFill>
                  <a:srgbClr val="111827"/>
                </a:solidFill>
                <a:latin typeface="Inter"/>
              </a:defRPr>
            </a:pPr>
            <a:r>
              <a:rPr i="0" sz="6000" b="1">
                <a:solidFill>
                  <a:srgbClr val="111827"/>
                </a:solidFill>
                <a:latin typeface="Inter"/>
              </a:rPr>
              <a:t>Modèle Économique</a:t>
            </a:r>
          </a:p>
        </p:txBody>
      </p:sp>
      <p:sp>
        <p:nvSpPr>
          <p:cNvPr id="5" name="TextBox 4"/>
          <p:cNvSpPr txBox="1"/>
          <p:nvPr/>
        </p:nvSpPr>
        <p:spPr>
          <a:xfrm>
            <a:off x="1016000" y="3987800"/>
            <a:ext cx="44958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Stratégie de Vente</a:t>
            </a:r>
          </a:p>
        </p:txBody>
      </p:sp>
      <p:sp>
        <p:nvSpPr>
          <p:cNvPr id="6" name="TextBox 5"/>
          <p:cNvSpPr txBox="1"/>
          <p:nvPr/>
        </p:nvSpPr>
        <p:spPr>
          <a:xfrm>
            <a:off x="1016000" y="4445000"/>
            <a:ext cx="44958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B2B Direct</a:t>
            </a:r>
          </a:p>
        </p:txBody>
      </p:sp>
      <p:sp>
        <p:nvSpPr>
          <p:cNvPr id="7" name="Rounded Rectangle 6"/>
          <p:cNvSpPr/>
          <p:nvPr/>
        </p:nvSpPr>
        <p:spPr>
          <a:xfrm>
            <a:off x="1016000" y="5410200"/>
            <a:ext cx="4470400" cy="1016000"/>
          </a:xfrm>
          <a:prstGeom prst="roundRect">
            <a:avLst>
              <a:gd name="adj" fmla="val 1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1270000" y="5664200"/>
            <a:ext cx="3987800" cy="508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Ventes B2B directes et contrats industriels à long terme, assurant une base stable.</a:t>
            </a:r>
          </a:p>
        </p:txBody>
      </p:sp>
      <p:sp>
        <p:nvSpPr>
          <p:cNvPr id="9" name="TextBox 8"/>
          <p:cNvSpPr txBox="1"/>
          <p:nvPr/>
        </p:nvSpPr>
        <p:spPr>
          <a:xfrm>
            <a:off x="5892800" y="3987800"/>
            <a:ext cx="44958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CA Annuel Projeté</a:t>
            </a:r>
          </a:p>
        </p:txBody>
      </p:sp>
      <p:sp>
        <p:nvSpPr>
          <p:cNvPr id="10" name="TextBox 9"/>
          <p:cNvSpPr txBox="1"/>
          <p:nvPr/>
        </p:nvSpPr>
        <p:spPr>
          <a:xfrm>
            <a:off x="5892800" y="4445000"/>
            <a:ext cx="44958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2.28 T DZD</a:t>
            </a:r>
          </a:p>
        </p:txBody>
      </p:sp>
      <p:sp>
        <p:nvSpPr>
          <p:cNvPr id="11" name="Rounded Rectangle 10"/>
          <p:cNvSpPr/>
          <p:nvPr/>
        </p:nvSpPr>
        <p:spPr>
          <a:xfrm>
            <a:off x="5892800" y="5410200"/>
            <a:ext cx="4470400" cy="1016000"/>
          </a:xfrm>
          <a:prstGeom prst="roundRect">
            <a:avLst>
              <a:gd name="adj" fmla="val 1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6146800" y="5664200"/>
            <a:ext cx="3987800" cy="508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Chiffre d'affaires annuel projeté, démontrant un potentiel de revenus significatif.</a:t>
            </a:r>
          </a:p>
        </p:txBody>
      </p:sp>
      <p:sp>
        <p:nvSpPr>
          <p:cNvPr id="13" name="TextBox 12"/>
          <p:cNvSpPr txBox="1"/>
          <p:nvPr/>
        </p:nvSpPr>
        <p:spPr>
          <a:xfrm>
            <a:off x="10769600" y="3987800"/>
            <a:ext cx="44958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MRR</a:t>
            </a:r>
          </a:p>
        </p:txBody>
      </p:sp>
      <p:sp>
        <p:nvSpPr>
          <p:cNvPr id="14" name="TextBox 13"/>
          <p:cNvSpPr txBox="1"/>
          <p:nvPr/>
        </p:nvSpPr>
        <p:spPr>
          <a:xfrm>
            <a:off x="10769600" y="4445000"/>
            <a:ext cx="44958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190.1 Md</a:t>
            </a:r>
          </a:p>
        </p:txBody>
      </p:sp>
      <p:sp>
        <p:nvSpPr>
          <p:cNvPr id="15" name="Rounded Rectangle 14"/>
          <p:cNvSpPr/>
          <p:nvPr/>
        </p:nvSpPr>
        <p:spPr>
          <a:xfrm>
            <a:off x="10769600" y="5410200"/>
            <a:ext cx="4470400" cy="1016000"/>
          </a:xfrm>
          <a:prstGeom prst="roundRect">
            <a:avLst>
              <a:gd name="adj" fmla="val 1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11023600" y="5664200"/>
            <a:ext cx="3987800" cy="508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Revenu mensuel récurrent prévisionnel, reflétant la stabilité du modèle.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Traction</a:t>
            </a:r>
          </a:p>
        </p:txBody>
      </p:sp>
      <p:pic>
        <p:nvPicPr>
          <p:cNvPr id="3" name="Picture 2" descr="71a630e1-84ad-426b-855b-c990918e70bf.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4e7370fd-2ce1-420b-a43a-8d0c49e4e008.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2479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Nous avons réalisé des progrès significatifs, consolidant notre position sur le marché avec des certifications clés, une capacité opérationnelle croissante et une équipe solide.</a:t>
            </a:r>
          </a:p>
        </p:txBody>
      </p:sp>
      <p:sp>
        <p:nvSpPr>
          <p:cNvPr id="6" name="Rounded Rectangle 5"/>
          <p:cNvSpPr/>
          <p:nvPr/>
        </p:nvSpPr>
        <p:spPr>
          <a:xfrm>
            <a:off x="8534400" y="3771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84a3d2b7-73c1-4ffa-953b-708acf13ebc8.png"/>
          <p:cNvPicPr>
            <a:picLocks noChangeAspect="1"/>
          </p:cNvPicPr>
          <p:nvPr/>
        </p:nvPicPr>
        <p:blipFill>
          <a:blip r:embed="rId5"/>
          <a:stretch>
            <a:fillRect/>
          </a:stretch>
        </p:blipFill>
        <p:spPr>
          <a:xfrm>
            <a:off x="8686800" y="3937000"/>
            <a:ext cx="304800" cy="304800"/>
          </a:xfrm>
          <a:prstGeom prst="rect">
            <a:avLst/>
          </a:prstGeom>
        </p:spPr>
      </p:pic>
      <p:sp>
        <p:nvSpPr>
          <p:cNvPr id="8" name="TextBox 7"/>
          <p:cNvSpPr txBox="1"/>
          <p:nvPr/>
        </p:nvSpPr>
        <p:spPr>
          <a:xfrm>
            <a:off x="9347200" y="3771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Certifications Clés</a:t>
            </a:r>
          </a:p>
        </p:txBody>
      </p:sp>
      <p:sp>
        <p:nvSpPr>
          <p:cNvPr id="9" name="Rounded Rectangle 8"/>
          <p:cNvSpPr/>
          <p:nvPr/>
        </p:nvSpPr>
        <p:spPr>
          <a:xfrm>
            <a:off x="9347200" y="4229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4069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Obtention des normes ISO 9001 et marquage CE/ECE R43 en cours, assurant qualité et conformité.</a:t>
            </a:r>
          </a:p>
        </p:txBody>
      </p:sp>
      <p:sp>
        <p:nvSpPr>
          <p:cNvPr id="11" name="Rounded Rectangle 10"/>
          <p:cNvSpPr/>
          <p:nvPr/>
        </p:nvSpPr>
        <p:spPr>
          <a:xfrm>
            <a:off x="8534400" y="53721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d5363e78-5796-439f-a9a1-d9886337c5c6.png"/>
          <p:cNvPicPr>
            <a:picLocks noChangeAspect="1"/>
          </p:cNvPicPr>
          <p:nvPr/>
        </p:nvPicPr>
        <p:blipFill>
          <a:blip r:embed="rId6"/>
          <a:stretch>
            <a:fillRect/>
          </a:stretch>
        </p:blipFill>
        <p:spPr>
          <a:xfrm>
            <a:off x="8686800" y="5537200"/>
            <a:ext cx="304800" cy="304800"/>
          </a:xfrm>
          <a:prstGeom prst="rect">
            <a:avLst/>
          </a:prstGeom>
        </p:spPr>
      </p:pic>
      <p:sp>
        <p:nvSpPr>
          <p:cNvPr id="13" name="TextBox 12"/>
          <p:cNvSpPr txBox="1"/>
          <p:nvPr/>
        </p:nvSpPr>
        <p:spPr>
          <a:xfrm>
            <a:off x="9347200" y="53721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Opérations et Offre Produit</a:t>
            </a:r>
          </a:p>
        </p:txBody>
      </p:sp>
      <p:sp>
        <p:nvSpPr>
          <p:cNvPr id="14" name="Rounded Rectangle 13"/>
          <p:cNvSpPr/>
          <p:nvPr/>
        </p:nvSpPr>
        <p:spPr>
          <a:xfrm>
            <a:off x="9347200" y="58293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0071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12 machines de production actives et 10 gammes de produits innovants développées.</a:t>
            </a:r>
          </a:p>
        </p:txBody>
      </p:sp>
      <p:sp>
        <p:nvSpPr>
          <p:cNvPr id="16" name="Rounded Rectangle 15"/>
          <p:cNvSpPr/>
          <p:nvPr/>
        </p:nvSpPr>
        <p:spPr>
          <a:xfrm>
            <a:off x="8534400" y="6972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50c97ed9-ee2e-446d-a32a-0ee3a2a5f7ba.png"/>
          <p:cNvPicPr>
            <a:picLocks noChangeAspect="1"/>
          </p:cNvPicPr>
          <p:nvPr/>
        </p:nvPicPr>
        <p:blipFill>
          <a:blip r:embed="rId7"/>
          <a:stretch>
            <a:fillRect/>
          </a:stretch>
        </p:blipFill>
        <p:spPr>
          <a:xfrm>
            <a:off x="8686800" y="7137400"/>
            <a:ext cx="304800" cy="304800"/>
          </a:xfrm>
          <a:prstGeom prst="rect">
            <a:avLst/>
          </a:prstGeom>
        </p:spPr>
      </p:pic>
      <p:sp>
        <p:nvSpPr>
          <p:cNvPr id="18" name="TextBox 17"/>
          <p:cNvSpPr txBox="1"/>
          <p:nvPr/>
        </p:nvSpPr>
        <p:spPr>
          <a:xfrm>
            <a:off x="9347200" y="6972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Équipe Dévouée</a:t>
            </a:r>
          </a:p>
        </p:txBody>
      </p:sp>
      <p:sp>
        <p:nvSpPr>
          <p:cNvPr id="19" name="Rounded Rectangle 18"/>
          <p:cNvSpPr/>
          <p:nvPr/>
        </p:nvSpPr>
        <p:spPr>
          <a:xfrm>
            <a:off x="9347200" y="7429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6073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Notre équipe expérimentée est prête à piloter le succès et l'expansion future.</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8ef4353c-da03-44b6-a5c6-e5ef4bd6203b.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Stratégie Commerciale</a:t>
            </a:r>
          </a:p>
        </p:txBody>
      </p:sp>
      <p:pic>
        <p:nvPicPr>
          <p:cNvPr id="3" name="Picture 2" descr="71a630e1-84ad-426b-855b-c990918e70bf.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4e7370fd-2ce1-420b-a43a-8d0c49e4e008.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616200"/>
            <a:ext cx="6731000" cy="3683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Approche commerciale structurée pour le marché industriel.</a:t>
            </a:r>
          </a:p>
        </p:txBody>
      </p:sp>
      <p:sp>
        <p:nvSpPr>
          <p:cNvPr id="6" name="Rounded Rectangle 5"/>
          <p:cNvSpPr/>
          <p:nvPr/>
        </p:nvSpPr>
        <p:spPr>
          <a:xfrm>
            <a:off x="8534400" y="34036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483c09a5-d9d7-4fb4-a734-cb41dcced078.png"/>
          <p:cNvPicPr>
            <a:picLocks noChangeAspect="1"/>
          </p:cNvPicPr>
          <p:nvPr/>
        </p:nvPicPr>
        <p:blipFill>
          <a:blip r:embed="rId5"/>
          <a:stretch>
            <a:fillRect/>
          </a:stretch>
        </p:blipFill>
        <p:spPr>
          <a:xfrm>
            <a:off x="8686800" y="3556000"/>
            <a:ext cx="304800" cy="304800"/>
          </a:xfrm>
          <a:prstGeom prst="rect">
            <a:avLst/>
          </a:prstGeom>
        </p:spPr>
      </p:pic>
      <p:sp>
        <p:nvSpPr>
          <p:cNvPr id="8" name="TextBox 7"/>
          <p:cNvSpPr txBox="1"/>
          <p:nvPr/>
        </p:nvSpPr>
        <p:spPr>
          <a:xfrm>
            <a:off x="9347200" y="34036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Canaux de Vente</a:t>
            </a:r>
          </a:p>
        </p:txBody>
      </p:sp>
      <p:sp>
        <p:nvSpPr>
          <p:cNvPr id="9" name="Rounded Rectangle 8"/>
          <p:cNvSpPr/>
          <p:nvPr/>
        </p:nvSpPr>
        <p:spPr>
          <a:xfrm>
            <a:off x="9347200" y="38608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0386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Ventes directes aux industriels, complétées par une présence active aux salons spécialisés.</a:t>
            </a:r>
          </a:p>
        </p:txBody>
      </p:sp>
      <p:sp>
        <p:nvSpPr>
          <p:cNvPr id="11" name="Rounded Rectangle 10"/>
          <p:cNvSpPr/>
          <p:nvPr/>
        </p:nvSpPr>
        <p:spPr>
          <a:xfrm>
            <a:off x="8534400" y="50038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1403bdf8-8632-4e12-b96c-70e644cbbddf.png"/>
          <p:cNvPicPr>
            <a:picLocks noChangeAspect="1"/>
          </p:cNvPicPr>
          <p:nvPr/>
        </p:nvPicPr>
        <p:blipFill>
          <a:blip r:embed="rId6"/>
          <a:stretch>
            <a:fillRect/>
          </a:stretch>
        </p:blipFill>
        <p:spPr>
          <a:xfrm>
            <a:off x="8686800" y="5156200"/>
            <a:ext cx="304800" cy="304800"/>
          </a:xfrm>
          <a:prstGeom prst="rect">
            <a:avLst/>
          </a:prstGeom>
        </p:spPr>
      </p:pic>
      <p:sp>
        <p:nvSpPr>
          <p:cNvPr id="13" name="TextBox 12"/>
          <p:cNvSpPr txBox="1"/>
          <p:nvPr/>
        </p:nvSpPr>
        <p:spPr>
          <a:xfrm>
            <a:off x="9347200" y="50038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Logistique Optimisée</a:t>
            </a:r>
          </a:p>
        </p:txBody>
      </p:sp>
      <p:sp>
        <p:nvSpPr>
          <p:cNvPr id="14" name="Rounded Rectangle 13"/>
          <p:cNvSpPr/>
          <p:nvPr/>
        </p:nvSpPr>
        <p:spPr>
          <a:xfrm>
            <a:off x="9347200" y="54610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56388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Production locale pour une livraison nationale rapide, assurée sous seulement 2 semaines.</a:t>
            </a:r>
          </a:p>
        </p:txBody>
      </p:sp>
      <p:sp>
        <p:nvSpPr>
          <p:cNvPr id="16" name="Rounded Rectangle 15"/>
          <p:cNvSpPr/>
          <p:nvPr/>
        </p:nvSpPr>
        <p:spPr>
          <a:xfrm>
            <a:off x="8534400" y="66040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483c09a5-d9d7-4fb4-a734-cb41dcced078.png"/>
          <p:cNvPicPr>
            <a:picLocks noChangeAspect="1"/>
          </p:cNvPicPr>
          <p:nvPr/>
        </p:nvPicPr>
        <p:blipFill>
          <a:blip r:embed="rId5"/>
          <a:stretch>
            <a:fillRect/>
          </a:stretch>
        </p:blipFill>
        <p:spPr>
          <a:xfrm>
            <a:off x="8686800" y="6756400"/>
            <a:ext cx="304800" cy="304800"/>
          </a:xfrm>
          <a:prstGeom prst="rect">
            <a:avLst/>
          </a:prstGeom>
        </p:spPr>
      </p:pic>
      <p:sp>
        <p:nvSpPr>
          <p:cNvPr id="18" name="TextBox 17"/>
          <p:cNvSpPr txBox="1"/>
          <p:nvPr/>
        </p:nvSpPr>
        <p:spPr>
          <a:xfrm>
            <a:off x="9347200" y="66040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Cycle de Vente B2B</a:t>
            </a:r>
          </a:p>
        </p:txBody>
      </p:sp>
      <p:sp>
        <p:nvSpPr>
          <p:cNvPr id="19" name="Rounded Rectangle 18"/>
          <p:cNvSpPr/>
          <p:nvPr/>
        </p:nvSpPr>
        <p:spPr>
          <a:xfrm>
            <a:off x="9347200" y="70612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2390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Cycle de vente optimisé (2-4 mois) grâce à un ciblage précis des clients industriels.</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eec37ada-fa6f-4fdb-9f17-756f2a8c43b9.png"/>
          <p:cNvPicPr>
            <a:picLocks noChangeAspect="1"/>
          </p:cNvPicPr>
          <p:nvPr/>
        </p:nvPicPr>
        <p:blipFill>
          <a:blip r:embed="rId7"/>
          <a:stretch>
            <a:fillRect/>
          </a:stretch>
        </p:blipFill>
        <p:spPr>
          <a:xfrm>
            <a:off x="1524000" y="3225800"/>
            <a:ext cx="5689600" cy="4064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Concurrence</a:t>
            </a:r>
          </a:p>
        </p:txBody>
      </p:sp>
      <p:pic>
        <p:nvPicPr>
          <p:cNvPr id="3" name="Picture 2" descr="71a630e1-84ad-426b-855b-c990918e70bf.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4e7370fd-2ce1-420b-a43a-8d0c49e4e008.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438400"/>
            <a:ext cx="6731000" cy="7493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Le marché est caractérisé par la présence d'importateurs et de producteurs locaux, offrant des opportunités pour une offre différenciée.</a:t>
            </a:r>
          </a:p>
        </p:txBody>
      </p:sp>
      <p:sp>
        <p:nvSpPr>
          <p:cNvPr id="6" name="Rounded Rectangle 5"/>
          <p:cNvSpPr/>
          <p:nvPr/>
        </p:nvSpPr>
        <p:spPr>
          <a:xfrm>
            <a:off x="8534400" y="35814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c550027f-32ab-45ab-ba22-71768c861b01.png"/>
          <p:cNvPicPr>
            <a:picLocks noChangeAspect="1"/>
          </p:cNvPicPr>
          <p:nvPr/>
        </p:nvPicPr>
        <p:blipFill>
          <a:blip r:embed="rId5"/>
          <a:stretch>
            <a:fillRect/>
          </a:stretch>
        </p:blipFill>
        <p:spPr>
          <a:xfrm>
            <a:off x="8686800" y="3746500"/>
            <a:ext cx="304800" cy="304800"/>
          </a:xfrm>
          <a:prstGeom prst="rect">
            <a:avLst/>
          </a:prstGeom>
        </p:spPr>
      </p:pic>
      <p:sp>
        <p:nvSpPr>
          <p:cNvPr id="8" name="TextBox 7"/>
          <p:cNvSpPr txBox="1"/>
          <p:nvPr/>
        </p:nvSpPr>
        <p:spPr>
          <a:xfrm>
            <a:off x="9347200" y="35814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Acteurs du Marché</a:t>
            </a:r>
          </a:p>
        </p:txBody>
      </p:sp>
      <p:sp>
        <p:nvSpPr>
          <p:cNvPr id="9" name="Rounded Rectangle 8"/>
          <p:cNvSpPr/>
          <p:nvPr/>
        </p:nvSpPr>
        <p:spPr>
          <a:xfrm>
            <a:off x="9347200" y="40386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2164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Importateurs (Chine/Europe) et producteurs locaux fragmentés composent le paysage concurrentiel.</a:t>
            </a:r>
          </a:p>
        </p:txBody>
      </p:sp>
      <p:sp>
        <p:nvSpPr>
          <p:cNvPr id="11" name="Rounded Rectangle 10"/>
          <p:cNvSpPr/>
          <p:nvPr/>
        </p:nvSpPr>
        <p:spPr>
          <a:xfrm>
            <a:off x="8534400" y="51816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d5363e78-5796-439f-a9a1-d9886337c5c6.png"/>
          <p:cNvPicPr>
            <a:picLocks noChangeAspect="1"/>
          </p:cNvPicPr>
          <p:nvPr/>
        </p:nvPicPr>
        <p:blipFill>
          <a:blip r:embed="rId6"/>
          <a:stretch>
            <a:fillRect/>
          </a:stretch>
        </p:blipFill>
        <p:spPr>
          <a:xfrm>
            <a:off x="8686800" y="5346700"/>
            <a:ext cx="304800" cy="304800"/>
          </a:xfrm>
          <a:prstGeom prst="rect">
            <a:avLst/>
          </a:prstGeom>
        </p:spPr>
      </p:pic>
      <p:sp>
        <p:nvSpPr>
          <p:cNvPr id="13" name="TextBox 12"/>
          <p:cNvSpPr txBox="1"/>
          <p:nvPr/>
        </p:nvSpPr>
        <p:spPr>
          <a:xfrm>
            <a:off x="9347200" y="51816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Notre Positionnement</a:t>
            </a:r>
          </a:p>
        </p:txBody>
      </p:sp>
      <p:sp>
        <p:nvSpPr>
          <p:cNvPr id="14" name="Rounded Rectangle 13"/>
          <p:cNvSpPr/>
          <p:nvPr/>
        </p:nvSpPr>
        <p:spPr>
          <a:xfrm>
            <a:off x="9347200" y="56388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58166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Production locale de haute qualité, offrant un rapport qualité-prix très compétitif sur le marché.</a:t>
            </a:r>
          </a:p>
        </p:txBody>
      </p:sp>
      <p:sp>
        <p:nvSpPr>
          <p:cNvPr id="16" name="Rounded Rectangle 15"/>
          <p:cNvSpPr/>
          <p:nvPr/>
        </p:nvSpPr>
        <p:spPr>
          <a:xfrm>
            <a:off x="8534400" y="67818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cc694b8b-b2c5-495f-a5f6-4cb3b3efbb83.png"/>
          <p:cNvPicPr>
            <a:picLocks noChangeAspect="1"/>
          </p:cNvPicPr>
          <p:nvPr/>
        </p:nvPicPr>
        <p:blipFill>
          <a:blip r:embed="rId7"/>
          <a:stretch>
            <a:fillRect/>
          </a:stretch>
        </p:blipFill>
        <p:spPr>
          <a:xfrm>
            <a:off x="8686800" y="6946900"/>
            <a:ext cx="304800" cy="304800"/>
          </a:xfrm>
          <a:prstGeom prst="rect">
            <a:avLst/>
          </a:prstGeom>
        </p:spPr>
      </p:pic>
      <p:sp>
        <p:nvSpPr>
          <p:cNvPr id="18" name="TextBox 17"/>
          <p:cNvSpPr txBox="1"/>
          <p:nvPr/>
        </p:nvSpPr>
        <p:spPr>
          <a:xfrm>
            <a:off x="9347200" y="67818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Avantages Compétitifs</a:t>
            </a:r>
          </a:p>
        </p:txBody>
      </p:sp>
      <p:sp>
        <p:nvSpPr>
          <p:cNvPr id="19" name="Rounded Rectangle 18"/>
          <p:cNvSpPr/>
          <p:nvPr/>
        </p:nvSpPr>
        <p:spPr>
          <a:xfrm>
            <a:off x="9347200" y="72390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4168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Expertise locale approfondie, partenariats technologiques stratégiques et forte proximité client.</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60d732cc-b648-4d60-a824-6068ef540fbc.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81312fa9-e18d-4dde-a0a6-79d00c51c9c5.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717800"/>
            <a:ext cx="6731000" cy="2286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Conclusion &amp; Appel à l'Investissement</a:t>
            </a:r>
          </a:p>
        </p:txBody>
      </p:sp>
      <p:sp>
        <p:nvSpPr>
          <p:cNvPr id="5" name="Rounded Rectangle 4"/>
          <p:cNvSpPr/>
          <p:nvPr/>
        </p:nvSpPr>
        <p:spPr>
          <a:xfrm>
            <a:off x="8534400" y="53086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5664200"/>
            <a:ext cx="6731000" cy="3556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ALLO MAISON: Leader polymères. Investissez, transformez.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