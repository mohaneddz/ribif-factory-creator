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SARL ALLO MAISON développe un complexe industriel de polymères et composites. Notre but: leadership national en substitution d'importations. Nous répondrons à la demande locale par production qualité et innovante. Cela bâtira une industrie locale forte et créatrice de valeur.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abordons un problème crucial pour l'Algérie: le manque de production locale de matériaux polymères et composites. Cette lacune force une dépendance excessive aux importations, ce qui augmente considérablement les coûts et les délais de livraison. Cette situation pèse lourdement sur la compétitivité des industries locales et nécessite un investissement significatif, estimé à 14 milliards de DZD, pour développer une capacité de production autonome et de qualité.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solution est axée sur la production locale de produits clés. Cela permet non seulement de réduire notre dépendance aux importations, mais aussi de stimuler l'économie nationale. Nous offrons une gamme variée de produits innovants, des panneaux aux revêtements de sol et aux portes, fabriqués avec des normes de qualité élevées, garantissant durabilité et performance pour nos clients.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visons un marché colossal. Le marché adressable total est évalué à 280,1 milliards DZD. Notre marché adressable serviable est de 112,1 milliards DZD, avec une part de marché obtenable de 28,0 milliards DZD. Les politiques nationales de substitution aux importations et la forte demande industrielle pour des matériaux de qualité créent une opportunité de croissance significative.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produit se distingue par une approche de production innovante. Nous utilisons des technologies d'automatisation avancées pour garantir une précision inégalée et une efficacité maximale. Chaque étape est pensée pour assurer une qualité supérieure, promettant durabilité et performance. Notre chaîne de production est entièrement intégrée, ce qui nous permet de maîtriser chaque aspect de la fabrication, du concept initial à la livraison finale, optimisant ainsi la qualité et les coûts.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modèle économique repose sur des ventes B2B directes et des partenariats industriels. Nous prévoyons un CA annuel de 4.2 Mrds DZD et un MRR de 350.2 M DZD, assurant une croissance stable et une forte rentabilité. Notre approche est scalable, permettant une expansion rapide et l'optimisation des marges grâce à la production locale efficiente.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franchi des étapes importantes, notamment l'assemblage d'une équipe de direction très compétente. Notre engagement envers les certifications ISO 9001 et 14001 prouve notre rigueur. Nous sommes prêts pour le lancement de la production de 10 gammes de produits, avec une stratégie claire d'industrialisation locale pour répondre efficacement aux demandes du marché.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stratégie commerciale est axée sur une approche B2B directe, ciblant industriels et grands projets. Nous renforçons cette présence par des salons professionnels. Un avantage clé est notre logistique locale, garantissant des livraisons rapides en 2 semaines. Notre cycle de vente B2B est optimisé (2-4 mois), soutenu par un marketing ciblé sur la qualité et la compétitivité locale.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Sur cette slide, nous abordons notre avantage concurrentiel. Face aux importateurs et aux producteurs locaux fragmentés, nous nous distinguons par notre expertise locale et notre proximité client, garantissant réactivité et un service après-vente de premier ordre. Nos partenariats technologiques solides assurent une innovation continue et une qualité constante. Enfin, notre capacité à offrir des solutions personnalisées avec des délais de livraison courts représente une différenciation clé sur le marché, nous positionnant comme un leader.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ALLO MAISON transformera l'industrie algérienne en substituant les importations de polymères, créant valeur et emplois. Un investissement de 14.0 Mrd DZD est clé pour ce complexe. Rejoignez-nous pour un partenariat d'avenir.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4.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22.png"/><Relationship Id="rId6" Type="http://schemas.openxmlformats.org/officeDocument/2006/relationships/image" Target="../media/image26.png"/><Relationship Id="rId7"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6416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bf04917a-709c-4816-b63f-91867526129a.png"/>
          <p:cNvPicPr>
            <a:picLocks noChangeAspect="1"/>
          </p:cNvPicPr>
          <p:nvPr/>
        </p:nvPicPr>
        <p:blipFill>
          <a:blip r:embed="rId3"/>
          <a:stretch>
            <a:fillRect/>
          </a:stretch>
        </p:blipFill>
        <p:spPr>
          <a:xfrm>
            <a:off x="1117600" y="2641600"/>
            <a:ext cx="6502400" cy="4064000"/>
          </a:xfrm>
          <a:prstGeom prst="rect">
            <a:avLst/>
          </a:prstGeom>
        </p:spPr>
      </p:pic>
      <p:sp>
        <p:nvSpPr>
          <p:cNvPr id="4" name="TextBox 3"/>
          <p:cNvSpPr txBox="1"/>
          <p:nvPr/>
        </p:nvSpPr>
        <p:spPr>
          <a:xfrm>
            <a:off x="8534400" y="22225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SARL ALLO MAISON: Pitch Investisseur</a:t>
            </a:r>
          </a:p>
        </p:txBody>
      </p:sp>
      <p:sp>
        <p:nvSpPr>
          <p:cNvPr id="5" name="Rounded Rectangle 4"/>
          <p:cNvSpPr/>
          <p:nvPr/>
        </p:nvSpPr>
        <p:spPr>
          <a:xfrm>
            <a:off x="8534400" y="48133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168900"/>
            <a:ext cx="6731000" cy="3556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Complexe industriel de polymères/composites.</a:t>
            </a:r>
          </a:p>
        </p:txBody>
      </p:sp>
      <p:sp>
        <p:nvSpPr>
          <p:cNvPr id="7" name="Rounded Rectangle 6"/>
          <p:cNvSpPr/>
          <p:nvPr/>
        </p:nvSpPr>
        <p:spPr>
          <a:xfrm>
            <a:off x="8534400" y="5829300"/>
            <a:ext cx="6705600" cy="1295400"/>
          </a:xfrm>
          <a:prstGeom prst="roundRect">
            <a:avLst>
              <a:gd name="adj" fmla="val 7843"/>
            </a:avLst>
          </a:prstGeom>
          <a:solidFill>
            <a:srgbClr val="FFFFFF">
              <a:alpha val="50000"/>
            </a:srgbClr>
          </a:solidFill>
          <a:ln w="12700">
            <a:solidFill>
              <a:srgbClr val="E5E7EB"/>
            </a:solidFill>
          </a:ln>
          <a:effectLst>
            <a:outerShdw blurRad="25400" dir="5400000" dist="12700" rotWithShape="0">
              <a:srgbClr val="000000">
                <a:alpha val="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8851900" y="61722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8940800" y="6324600"/>
            <a:ext cx="457200" cy="304800"/>
          </a:xfrm>
          <a:prstGeom prst="rect">
            <a:avLst/>
          </a:prstGeom>
          <a:noFill/>
        </p:spPr>
        <p:txBody>
          <a:bodyPr wrap="square" lIns="0" rIns="0" tIns="0" bIns="0">
            <a:spAutoFit/>
          </a:bodyPr>
          <a:lstStyle/>
          <a:p>
            <a:pPr algn="l">
              <a:defRPr i="0" sz="1600" b="1">
                <a:solidFill>
                  <a:srgbClr val="FFFFFF"/>
                </a:solidFill>
                <a:latin typeface="Inter"/>
              </a:defRPr>
            </a:pPr>
            <a:r>
              <a:rPr i="0" sz="1600" b="1">
                <a:solidFill>
                  <a:srgbClr val="FFFFFF"/>
                </a:solidFill>
                <a:latin typeface="Inter"/>
              </a:rPr>
              <a:t>LDD</a:t>
            </a:r>
          </a:p>
        </p:txBody>
      </p:sp>
      <p:sp>
        <p:nvSpPr>
          <p:cNvPr id="10" name="TextBox 9"/>
          <p:cNvSpPr txBox="1"/>
          <p:nvPr/>
        </p:nvSpPr>
        <p:spPr>
          <a:xfrm>
            <a:off x="9664700" y="6146800"/>
            <a:ext cx="24384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L'Équipe de Direction</a:t>
            </a:r>
          </a:p>
        </p:txBody>
      </p:sp>
      <p:sp>
        <p:nvSpPr>
          <p:cNvPr id="11" name="TextBox 10"/>
          <p:cNvSpPr txBox="1"/>
          <p:nvPr/>
        </p:nvSpPr>
        <p:spPr>
          <a:xfrm>
            <a:off x="9664700" y="6502400"/>
            <a:ext cx="2438400" cy="3048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28 Décembre 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27bfeb97-d018-432c-9e73-6022151267ef.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565400"/>
            <a:ext cx="6731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Le Problème: Marché en Manque</a:t>
            </a:r>
          </a:p>
        </p:txBody>
      </p:sp>
      <p:sp>
        <p:nvSpPr>
          <p:cNvPr id="5" name="Rounded Rectangle 4"/>
          <p:cNvSpPr/>
          <p:nvPr/>
        </p:nvSpPr>
        <p:spPr>
          <a:xfrm>
            <a:off x="8534400" y="43942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4749800"/>
            <a:ext cx="6731000" cy="1422400"/>
          </a:xfrm>
          <a:prstGeom prst="rect">
            <a:avLst/>
          </a:prstGeom>
          <a:noFill/>
        </p:spPr>
        <p:txBody>
          <a:bodyPr wrap="square" lIns="0" rIns="0" tIns="0" bIns="0">
            <a:spAutoFit/>
          </a:bodyPr>
          <a:lstStyle/>
          <a:p>
            <a:pPr algn="l">
              <a:lnSpc>
                <a:spcPct val="126000"/>
              </a:lnSpc>
              <a:defRPr i="0" sz="1800" b="0">
                <a:solidFill>
                  <a:srgbClr val="4B5563"/>
                </a:solidFill>
                <a:latin typeface="Inter"/>
              </a:defRPr>
            </a:pPr>
            <a:r>
              <a:rPr i="0" sz="1800" b="0">
                <a:solidFill>
                  <a:srgbClr val="4B5563"/>
                </a:solidFill>
                <a:latin typeface="Inter"/>
              </a:rPr>
              <a:t>Le marché algérien des polymères et composites manque de production locale. La dépendance aux importations coûte cher, allonge les délais et impacte la compétitivité. Un investissement de 14 MDS DZD est nécessaire pour combler ce déficit.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Notre Solution: Fabrication Locale Innovante</a:t>
            </a:r>
          </a:p>
        </p:txBody>
      </p:sp>
      <p:pic>
        <p:nvPicPr>
          <p:cNvPr id="3" name="Picture 2" descr="e38523f4-40b6-4836-a79a-c1ae755b1164.png"/>
          <p:cNvPicPr>
            <a:picLocks noChangeAspect="1"/>
          </p:cNvPicPr>
          <p:nvPr/>
        </p:nvPicPr>
        <p:blipFill>
          <a:blip r:embed="rId3"/>
          <a:stretch>
            <a:fillRect/>
          </a:stretch>
        </p:blipFill>
        <p:spPr>
          <a:xfrm>
            <a:off x="1016000" y="2540000"/>
            <a:ext cx="6705600" cy="6197600"/>
          </a:xfrm>
          <a:prstGeom prst="rect">
            <a:avLst/>
          </a:prstGeom>
        </p:spPr>
      </p:pic>
      <p:pic>
        <p:nvPicPr>
          <p:cNvPr id="4" name="Picture 3" descr="8971885c-e24a-471b-a664-783ebe7f9344.png"/>
          <p:cNvPicPr>
            <a:picLocks noChangeAspect="1"/>
          </p:cNvPicPr>
          <p:nvPr/>
        </p:nvPicPr>
        <p:blipFill>
          <a:blip r:embed="rId4"/>
          <a:stretch>
            <a:fillRect/>
          </a:stretch>
        </p:blipFill>
        <p:spPr>
          <a:xfrm>
            <a:off x="7010400" y="3556000"/>
            <a:ext cx="304800" cy="304800"/>
          </a:xfrm>
          <a:prstGeom prst="rect">
            <a:avLst/>
          </a:prstGeom>
        </p:spPr>
      </p:pic>
      <p:sp>
        <p:nvSpPr>
          <p:cNvPr id="5" name="TextBox 4"/>
          <p:cNvSpPr txBox="1"/>
          <p:nvPr/>
        </p:nvSpPr>
        <p:spPr>
          <a:xfrm>
            <a:off x="8534400" y="2628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solution repose sur une fabrication locale innovante de produits essentiels. Nous substituons efficacement les importations et créons de la valeur ajoutée nationale.</a:t>
            </a:r>
          </a:p>
        </p:txBody>
      </p:sp>
      <p:sp>
        <p:nvSpPr>
          <p:cNvPr id="6" name="Rounded Rectangle 5"/>
          <p:cNvSpPr/>
          <p:nvPr/>
        </p:nvSpPr>
        <p:spPr>
          <a:xfrm>
            <a:off x="8534400" y="4152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01bdb668-a8f2-4063-b9cb-cfa8e48d3990.png"/>
          <p:cNvPicPr>
            <a:picLocks noChangeAspect="1"/>
          </p:cNvPicPr>
          <p:nvPr/>
        </p:nvPicPr>
        <p:blipFill>
          <a:blip r:embed="rId5"/>
          <a:stretch>
            <a:fillRect/>
          </a:stretch>
        </p:blipFill>
        <p:spPr>
          <a:xfrm>
            <a:off x="8686800" y="4318000"/>
            <a:ext cx="304800" cy="304800"/>
          </a:xfrm>
          <a:prstGeom prst="rect">
            <a:avLst/>
          </a:prstGeom>
        </p:spPr>
      </p:pic>
      <p:sp>
        <p:nvSpPr>
          <p:cNvPr id="8" name="TextBox 7"/>
          <p:cNvSpPr txBox="1"/>
          <p:nvPr/>
        </p:nvSpPr>
        <p:spPr>
          <a:xfrm>
            <a:off x="9347200" y="4152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Fabrication Locale &amp; Diversifiée</a:t>
            </a:r>
          </a:p>
        </p:txBody>
      </p:sp>
      <p:sp>
        <p:nvSpPr>
          <p:cNvPr id="9" name="Rounded Rectangle 8"/>
          <p:cNvSpPr/>
          <p:nvPr/>
        </p:nvSpPr>
        <p:spPr>
          <a:xfrm>
            <a:off x="9347200" y="4610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787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d'une vaste gamme de produits essentiels pour l'industrie et la construction.</a:t>
            </a:r>
          </a:p>
        </p:txBody>
      </p:sp>
      <p:sp>
        <p:nvSpPr>
          <p:cNvPr id="11" name="Rounded Rectangle 10"/>
          <p:cNvSpPr/>
          <p:nvPr/>
        </p:nvSpPr>
        <p:spPr>
          <a:xfrm>
            <a:off x="8534400" y="5753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3acc04c1-5f01-4abf-b105-c6dfdcd5af9b.png"/>
          <p:cNvPicPr>
            <a:picLocks noChangeAspect="1"/>
          </p:cNvPicPr>
          <p:nvPr/>
        </p:nvPicPr>
        <p:blipFill>
          <a:blip r:embed="rId6"/>
          <a:stretch>
            <a:fillRect/>
          </a:stretch>
        </p:blipFill>
        <p:spPr>
          <a:xfrm>
            <a:off x="8686800" y="5918200"/>
            <a:ext cx="304800" cy="304800"/>
          </a:xfrm>
          <a:prstGeom prst="rect">
            <a:avLst/>
          </a:prstGeom>
        </p:spPr>
      </p:pic>
      <p:sp>
        <p:nvSpPr>
          <p:cNvPr id="13" name="TextBox 12"/>
          <p:cNvSpPr txBox="1"/>
          <p:nvPr/>
        </p:nvSpPr>
        <p:spPr>
          <a:xfrm>
            <a:off x="9347200" y="5753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Matériaux Avancés</a:t>
            </a:r>
          </a:p>
        </p:txBody>
      </p:sp>
      <p:sp>
        <p:nvSpPr>
          <p:cNvPr id="14" name="Rounded Rectangle 13"/>
          <p:cNvSpPr/>
          <p:nvPr/>
        </p:nvSpPr>
        <p:spPr>
          <a:xfrm>
            <a:off x="9347200" y="6210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388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Panneaux polymères/composites robustes et revêtements de sol SPC clic étanches innovants.</a:t>
            </a:r>
          </a:p>
        </p:txBody>
      </p:sp>
      <p:sp>
        <p:nvSpPr>
          <p:cNvPr id="16" name="Rounded Rectangle 15"/>
          <p:cNvSpPr/>
          <p:nvPr/>
        </p:nvSpPr>
        <p:spPr>
          <a:xfrm>
            <a:off x="8534400" y="7353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ea5dde4e-cf48-48ad-b5b7-b5b0ca6fc703.png"/>
          <p:cNvPicPr>
            <a:picLocks noChangeAspect="1"/>
          </p:cNvPicPr>
          <p:nvPr/>
        </p:nvPicPr>
        <p:blipFill>
          <a:blip r:embed="rId7"/>
          <a:stretch>
            <a:fillRect/>
          </a:stretch>
        </p:blipFill>
        <p:spPr>
          <a:xfrm>
            <a:off x="8686800" y="7518400"/>
            <a:ext cx="304800" cy="304800"/>
          </a:xfrm>
          <a:prstGeom prst="rect">
            <a:avLst/>
          </a:prstGeom>
        </p:spPr>
      </p:pic>
      <p:sp>
        <p:nvSpPr>
          <p:cNvPr id="18" name="TextBox 17"/>
          <p:cNvSpPr txBox="1"/>
          <p:nvPr/>
        </p:nvSpPr>
        <p:spPr>
          <a:xfrm>
            <a:off x="9347200" y="7353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Solutions Complètes</a:t>
            </a:r>
          </a:p>
        </p:txBody>
      </p:sp>
      <p:sp>
        <p:nvSpPr>
          <p:cNvPr id="19" name="Rounded Rectangle 18"/>
          <p:cNvSpPr/>
          <p:nvPr/>
        </p:nvSpPr>
        <p:spPr>
          <a:xfrm>
            <a:off x="9347200" y="7810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988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Portes variées (intérieures, extérieures, techniques) et panneaux muraux décoratifs et techniques.</a:t>
            </a:r>
          </a:p>
        </p:txBody>
      </p:sp>
      <p:sp>
        <p:nvSpPr>
          <p:cNvPr id="21" name="Rounded Rectangle 20"/>
          <p:cNvSpPr/>
          <p:nvPr/>
        </p:nvSpPr>
        <p:spPr>
          <a:xfrm>
            <a:off x="1524000" y="3606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b878ca72-b927-4b05-b206-459cdc924e23.png"/>
          <p:cNvPicPr>
            <a:picLocks noChangeAspect="1"/>
          </p:cNvPicPr>
          <p:nvPr/>
        </p:nvPicPr>
        <p:blipFill>
          <a:blip r:embed="rId8"/>
          <a:stretch>
            <a:fillRect/>
          </a:stretch>
        </p:blipFill>
        <p:spPr>
          <a:xfrm>
            <a:off x="1524000" y="3606800"/>
            <a:ext cx="5689600" cy="4064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Taille du Marché</a:t>
            </a:r>
          </a:p>
        </p:txBody>
      </p:sp>
      <p:sp>
        <p:nvSpPr>
          <p:cNvPr id="3" name="Rounded Rectangle 2"/>
          <p:cNvSpPr/>
          <p:nvPr/>
        </p:nvSpPr>
        <p:spPr>
          <a:xfrm>
            <a:off x="1016000" y="1574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84f9cfc6-dc84-4027-8b75-87bae9963fbe.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Marché Adressable Total (TAM)</a:t>
            </a:r>
          </a:p>
        </p:txBody>
      </p:sp>
      <p:sp>
        <p:nvSpPr>
          <p:cNvPr id="7" name="TextBox 6"/>
          <p:cNvSpPr txBox="1"/>
          <p:nvPr/>
        </p:nvSpPr>
        <p:spPr>
          <a:xfrm>
            <a:off x="1828800" y="4114800"/>
            <a:ext cx="61214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Évalué à 280,1 milliards DZD, une opportunité massive.</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Marché Ciblable et Part Visée</a:t>
            </a:r>
          </a:p>
        </p:txBody>
      </p:sp>
      <p:sp>
        <p:nvSpPr>
          <p:cNvPr id="10" name="TextBox 9"/>
          <p:cNvSpPr txBox="1"/>
          <p:nvPr/>
        </p:nvSpPr>
        <p:spPr>
          <a:xfrm>
            <a:off x="9144000" y="4114800"/>
            <a:ext cx="61214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SAM 112,1 Mrds DZD. SOM visée 28,0 Mrds DZD.</a:t>
            </a:r>
          </a:p>
        </p:txBody>
      </p:sp>
      <p:sp>
        <p:nvSpPr>
          <p:cNvPr id="11" name="TextBox 10"/>
          <p:cNvSpPr txBox="1"/>
          <p:nvPr/>
        </p:nvSpPr>
        <p:spPr>
          <a:xfrm>
            <a:off x="1016000" y="4851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03</a:t>
            </a:r>
          </a:p>
        </p:txBody>
      </p:sp>
      <p:sp>
        <p:nvSpPr>
          <p:cNvPr id="12" name="TextBox 11"/>
          <p:cNvSpPr txBox="1"/>
          <p:nvPr/>
        </p:nvSpPr>
        <p:spPr>
          <a:xfrm>
            <a:off x="1828800" y="4953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Dynamique du Marché</a:t>
            </a:r>
          </a:p>
        </p:txBody>
      </p:sp>
      <p:sp>
        <p:nvSpPr>
          <p:cNvPr id="13" name="TextBox 12"/>
          <p:cNvSpPr txBox="1"/>
          <p:nvPr/>
        </p:nvSpPr>
        <p:spPr>
          <a:xfrm>
            <a:off x="1828800" y="5511800"/>
            <a:ext cx="6121400" cy="3302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Substitution aux importations et forte demande.</a:t>
            </a:r>
          </a:p>
        </p:txBody>
      </p:sp>
      <p:pic>
        <p:nvPicPr>
          <p:cNvPr id="14" name="Picture 13" descr="833805fc-ea3c-401a-94a1-0257a14fbd0d.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d7850198-8f01-41c2-99ce-c56fa28bdff4.png"/>
          <p:cNvPicPr>
            <a:picLocks noChangeAspect="1"/>
          </p:cNvPicPr>
          <p:nvPr/>
        </p:nvPicPr>
        <p:blipFill>
          <a:blip r:embed="rId3"/>
          <a:stretch>
            <a:fillRect/>
          </a:stretch>
        </p:blipFill>
        <p:spPr>
          <a:xfrm>
            <a:off x="0" y="0"/>
            <a:ext cx="1625600" cy="9144000"/>
          </a:xfrm>
          <a:prstGeom prst="rect">
            <a:avLst/>
          </a:prstGeom>
        </p:spPr>
      </p:pic>
      <p:pic>
        <p:nvPicPr>
          <p:cNvPr id="3" name="Picture 2" descr="3a7393d4-7d19-4b8d-84e1-c50955fab476.png"/>
          <p:cNvPicPr>
            <a:picLocks noChangeAspect="1"/>
          </p:cNvPicPr>
          <p:nvPr/>
        </p:nvPicPr>
        <p:blipFill>
          <a:blip r:embed="rId4"/>
          <a:stretch>
            <a:fillRect/>
          </a:stretch>
        </p:blipFill>
        <p:spPr>
          <a:xfrm>
            <a:off x="0" y="7518400"/>
            <a:ext cx="2438400" cy="1625600"/>
          </a:xfrm>
          <a:prstGeom prst="rect">
            <a:avLst/>
          </a:prstGeom>
        </p:spPr>
      </p:pic>
      <p:sp>
        <p:nvSpPr>
          <p:cNvPr id="4" name="TextBox 3"/>
          <p:cNvSpPr txBox="1"/>
          <p:nvPr/>
        </p:nvSpPr>
        <p:spPr>
          <a:xfrm>
            <a:off x="1016000" y="609600"/>
            <a:ext cx="8966200" cy="1828800"/>
          </a:xfrm>
          <a:prstGeom prst="rect">
            <a:avLst/>
          </a:prstGeom>
          <a:noFill/>
        </p:spPr>
        <p:txBody>
          <a:bodyPr wrap="square" lIns="0" rIns="0" tIns="0" bIns="0">
            <a:spAutoFit/>
          </a:bodyPr>
          <a:lstStyle/>
          <a:p>
            <a:pPr algn="l">
              <a:lnSpc>
                <a:spcPct val="70000"/>
              </a:lnSpc>
              <a:defRPr i="0" sz="7200" b="1">
                <a:solidFill>
                  <a:srgbClr val="111827"/>
                </a:solidFill>
                <a:latin typeface="Inter"/>
              </a:defRPr>
            </a:pPr>
            <a:r>
              <a:rPr i="0" sz="7200" b="1">
                <a:solidFill>
                  <a:srgbClr val="111827"/>
                </a:solidFill>
                <a:latin typeface="Inter"/>
              </a:rPr>
              <a:t>Le Produit: Notre Production de Pointe</a:t>
            </a:r>
          </a:p>
        </p:txBody>
      </p:sp>
      <p:sp>
        <p:nvSpPr>
          <p:cNvPr id="5" name="Rounded Rectangle 4"/>
          <p:cNvSpPr/>
          <p:nvPr/>
        </p:nvSpPr>
        <p:spPr>
          <a:xfrm>
            <a:off x="1219200" y="41656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fb25af44-7832-4632-898a-9e7a80d1dcf1.png"/>
          <p:cNvPicPr>
            <a:picLocks noChangeAspect="1"/>
          </p:cNvPicPr>
          <p:nvPr/>
        </p:nvPicPr>
        <p:blipFill>
          <a:blip r:embed="rId5"/>
          <a:stretch>
            <a:fillRect/>
          </a:stretch>
        </p:blipFill>
        <p:spPr>
          <a:xfrm>
            <a:off x="1371600" y="4318000"/>
            <a:ext cx="304800" cy="304800"/>
          </a:xfrm>
          <a:prstGeom prst="rect">
            <a:avLst/>
          </a:prstGeom>
        </p:spPr>
      </p:pic>
      <p:sp>
        <p:nvSpPr>
          <p:cNvPr id="7" name="TextBox 6"/>
          <p:cNvSpPr txBox="1"/>
          <p:nvPr/>
        </p:nvSpPr>
        <p:spPr>
          <a:xfrm>
            <a:off x="2032000" y="4165600"/>
            <a:ext cx="3124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Production Automatisée</a:t>
            </a:r>
          </a:p>
        </p:txBody>
      </p:sp>
      <p:sp>
        <p:nvSpPr>
          <p:cNvPr id="8" name="TextBox 7"/>
          <p:cNvSpPr txBox="1"/>
          <p:nvPr/>
        </p:nvSpPr>
        <p:spPr>
          <a:xfrm>
            <a:off x="2032000" y="4572000"/>
            <a:ext cx="3124200" cy="863600"/>
          </a:xfrm>
          <a:prstGeom prst="rect">
            <a:avLst/>
          </a:prstGeom>
          <a:noFill/>
        </p:spPr>
        <p:txBody>
          <a:bodyPr wrap="square" lIns="0" rIns="0" tIns="0" bIns="0">
            <a:spAutoFit/>
          </a:bodyPr>
          <a:lstStyle/>
          <a:p>
            <a:pPr algn="l">
              <a:lnSpc>
                <a:spcPct val="133000"/>
              </a:lnSpc>
              <a:defRPr i="0" sz="1400" b="0">
                <a:solidFill>
                  <a:srgbClr val="4B5563"/>
                </a:solidFill>
                <a:latin typeface="Inter"/>
              </a:defRPr>
            </a:pPr>
            <a:r>
              <a:rPr i="0" sz="1400" b="0">
                <a:solidFill>
                  <a:srgbClr val="4B5563"/>
                </a:solidFill>
                <a:latin typeface="Inter"/>
              </a:rPr>
              <a:t>Utilisation de technologies avancées pour une production de haute précision et efficacité, minimisant les erreurs humaines.</a:t>
            </a:r>
          </a:p>
        </p:txBody>
      </p:sp>
      <p:sp>
        <p:nvSpPr>
          <p:cNvPr id="9" name="Rounded Rectangle 8"/>
          <p:cNvSpPr/>
          <p:nvPr/>
        </p:nvSpPr>
        <p:spPr>
          <a:xfrm>
            <a:off x="5842000" y="41656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0" name="Picture 9" descr="3d2c22cb-5d7d-4c3a-80f6-b1d58e615d9f.png"/>
          <p:cNvPicPr>
            <a:picLocks noChangeAspect="1"/>
          </p:cNvPicPr>
          <p:nvPr/>
        </p:nvPicPr>
        <p:blipFill>
          <a:blip r:embed="rId6"/>
          <a:stretch>
            <a:fillRect/>
          </a:stretch>
        </p:blipFill>
        <p:spPr>
          <a:xfrm>
            <a:off x="5994400" y="4318000"/>
            <a:ext cx="304800" cy="304800"/>
          </a:xfrm>
          <a:prstGeom prst="rect">
            <a:avLst/>
          </a:prstGeom>
        </p:spPr>
      </p:pic>
      <p:sp>
        <p:nvSpPr>
          <p:cNvPr id="11" name="TextBox 10"/>
          <p:cNvSpPr txBox="1"/>
          <p:nvPr/>
        </p:nvSpPr>
        <p:spPr>
          <a:xfrm>
            <a:off x="6654800" y="4165600"/>
            <a:ext cx="3124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Qualité Supérieure</a:t>
            </a:r>
          </a:p>
        </p:txBody>
      </p:sp>
      <p:sp>
        <p:nvSpPr>
          <p:cNvPr id="12" name="TextBox 11"/>
          <p:cNvSpPr txBox="1"/>
          <p:nvPr/>
        </p:nvSpPr>
        <p:spPr>
          <a:xfrm>
            <a:off x="6654800" y="4572000"/>
            <a:ext cx="3124200" cy="863600"/>
          </a:xfrm>
          <a:prstGeom prst="rect">
            <a:avLst/>
          </a:prstGeom>
          <a:noFill/>
        </p:spPr>
        <p:txBody>
          <a:bodyPr wrap="square" lIns="0" rIns="0" tIns="0" bIns="0">
            <a:spAutoFit/>
          </a:bodyPr>
          <a:lstStyle/>
          <a:p>
            <a:pPr algn="l">
              <a:lnSpc>
                <a:spcPct val="133000"/>
              </a:lnSpc>
              <a:defRPr i="0" sz="1400" b="0">
                <a:solidFill>
                  <a:srgbClr val="4B5563"/>
                </a:solidFill>
                <a:latin typeface="Inter"/>
              </a:defRPr>
            </a:pPr>
            <a:r>
              <a:rPr i="0" sz="1400" b="0">
                <a:solidFill>
                  <a:srgbClr val="4B5563"/>
                </a:solidFill>
                <a:latin typeface="Inter"/>
              </a:rPr>
              <a:t>Chaque produit est fabriqué selon des standards élevés, garantissant durabilité, performance et fiabilité sur le long terme.</a:t>
            </a:r>
          </a:p>
        </p:txBody>
      </p:sp>
      <p:sp>
        <p:nvSpPr>
          <p:cNvPr id="13" name="Rounded Rectangle 12"/>
          <p:cNvSpPr/>
          <p:nvPr/>
        </p:nvSpPr>
        <p:spPr>
          <a:xfrm>
            <a:off x="1219200" y="6146800"/>
            <a:ext cx="609600" cy="609600"/>
          </a:xfrm>
          <a:prstGeom prst="roundRect">
            <a:avLst>
              <a:gd name="adj" fmla="val 5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e16d3f14-84ec-4c44-be0a-80554b34637e.png"/>
          <p:cNvPicPr>
            <a:picLocks noChangeAspect="1"/>
          </p:cNvPicPr>
          <p:nvPr/>
        </p:nvPicPr>
        <p:blipFill>
          <a:blip r:embed="rId7"/>
          <a:stretch>
            <a:fillRect/>
          </a:stretch>
        </p:blipFill>
        <p:spPr>
          <a:xfrm>
            <a:off x="1371600" y="6311900"/>
            <a:ext cx="304800" cy="304800"/>
          </a:xfrm>
          <a:prstGeom prst="rect">
            <a:avLst/>
          </a:prstGeom>
        </p:spPr>
      </p:pic>
      <p:sp>
        <p:nvSpPr>
          <p:cNvPr id="15" name="TextBox 14"/>
          <p:cNvSpPr txBox="1"/>
          <p:nvPr/>
        </p:nvSpPr>
        <p:spPr>
          <a:xfrm>
            <a:off x="2032000" y="6146800"/>
            <a:ext cx="3124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Chaîne Intégrée</a:t>
            </a:r>
          </a:p>
        </p:txBody>
      </p:sp>
      <p:sp>
        <p:nvSpPr>
          <p:cNvPr id="16" name="TextBox 15"/>
          <p:cNvSpPr txBox="1"/>
          <p:nvPr/>
        </p:nvSpPr>
        <p:spPr>
          <a:xfrm>
            <a:off x="2032000" y="6553200"/>
            <a:ext cx="3124200" cy="863600"/>
          </a:xfrm>
          <a:prstGeom prst="rect">
            <a:avLst/>
          </a:prstGeom>
          <a:noFill/>
        </p:spPr>
        <p:txBody>
          <a:bodyPr wrap="square" lIns="0" rIns="0" tIns="0" bIns="0">
            <a:spAutoFit/>
          </a:bodyPr>
          <a:lstStyle/>
          <a:p>
            <a:pPr algn="l">
              <a:lnSpc>
                <a:spcPct val="133000"/>
              </a:lnSpc>
              <a:defRPr i="0" sz="1400" b="0">
                <a:solidFill>
                  <a:srgbClr val="4B5563"/>
                </a:solidFill>
                <a:latin typeface="Inter"/>
              </a:defRPr>
            </a:pPr>
            <a:r>
              <a:rPr i="0" sz="1400" b="0">
                <a:solidFill>
                  <a:srgbClr val="4B5563"/>
                </a:solidFill>
                <a:latin typeface="Inter"/>
              </a:rPr>
              <a:t>Notre chaîne de production verticalement intégrée assure une maîtrise complète de la qualité et une optimisation des coûts.</a:t>
            </a:r>
          </a:p>
        </p:txBody>
      </p:sp>
      <p:pic>
        <p:nvPicPr>
          <p:cNvPr id="17" name="Picture 16" descr="c7396f6b-f57c-4e17-9b2d-b915c28e6ca6.png"/>
          <p:cNvPicPr>
            <a:picLocks noChangeAspect="1"/>
          </p:cNvPicPr>
          <p:nvPr/>
        </p:nvPicPr>
        <p:blipFill>
          <a:blip r:embed="rId8"/>
          <a:stretch>
            <a:fillRect/>
          </a:stretch>
        </p:blipFill>
        <p:spPr>
          <a:xfrm>
            <a:off x="14427200" y="1016000"/>
            <a:ext cx="406400" cy="406400"/>
          </a:xfrm>
          <a:prstGeom prst="rect">
            <a:avLst/>
          </a:prstGeom>
        </p:spPr>
      </p:pic>
      <p:pic>
        <p:nvPicPr>
          <p:cNvPr id="18" name="Picture 17" descr="86ec9549-bb32-4a61-98af-5094302ebc8e.png"/>
          <p:cNvPicPr>
            <a:picLocks noChangeAspect="1"/>
          </p:cNvPicPr>
          <p:nvPr/>
        </p:nvPicPr>
        <p:blipFill>
          <a:blip r:embed="rId9"/>
          <a:stretch>
            <a:fillRect/>
          </a:stretch>
        </p:blipFill>
        <p:spPr>
          <a:xfrm>
            <a:off x="10769600" y="1422400"/>
            <a:ext cx="1016000" cy="254000"/>
          </a:xfrm>
          <a:prstGeom prst="rect">
            <a:avLst/>
          </a:prstGeom>
        </p:spPr>
      </p:pic>
      <p:sp>
        <p:nvSpPr>
          <p:cNvPr id="19" name="Rounded Rectangle 18"/>
          <p:cNvSpPr/>
          <p:nvPr/>
        </p:nvSpPr>
        <p:spPr>
          <a:xfrm>
            <a:off x="10363200" y="2641600"/>
            <a:ext cx="48768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0" name="Picture 19" descr="0dcf32c4-c7ae-46e6-912f-78e4d47a8724.png"/>
          <p:cNvPicPr>
            <a:picLocks noChangeAspect="1"/>
          </p:cNvPicPr>
          <p:nvPr/>
        </p:nvPicPr>
        <p:blipFill>
          <a:blip r:embed="rId10"/>
          <a:stretch>
            <a:fillRect/>
          </a:stretch>
        </p:blipFill>
        <p:spPr>
          <a:xfrm>
            <a:off x="10363200" y="2641600"/>
            <a:ext cx="4876800" cy="4064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Modèle Économique: Croissance et Rentabilité</a:t>
            </a:r>
          </a:p>
        </p:txBody>
      </p:sp>
      <p:sp>
        <p:nvSpPr>
          <p:cNvPr id="3" name="Rounded Rectangle 2"/>
          <p:cNvSpPr/>
          <p:nvPr/>
        </p:nvSpPr>
        <p:spPr>
          <a:xfrm>
            <a:off x="1016000" y="2336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d1099a2a-70ce-4801-b9a6-ef77117ce2a9.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Ventes B2B Directes &amp; Partenariats</a:t>
            </a:r>
          </a:p>
        </p:txBody>
      </p:sp>
      <p:sp>
        <p:nvSpPr>
          <p:cNvPr id="7" name="TextBox 6"/>
          <p:cNvSpPr txBox="1"/>
          <p:nvPr/>
        </p:nvSpPr>
        <p:spPr>
          <a:xfrm>
            <a:off x="1828800" y="4114800"/>
            <a:ext cx="6121400" cy="990600"/>
          </a:xfrm>
          <a:prstGeom prst="rect">
            <a:avLst/>
          </a:prstGeom>
          <a:noFill/>
        </p:spPr>
        <p:txBody>
          <a:bodyPr wrap="square" lIns="0" rIns="0" tIns="0" bIns="0">
            <a:spAutoFit/>
          </a:bodyPr>
          <a:lstStyle/>
          <a:p>
            <a:pPr algn="l">
              <a:lnSpc>
                <a:spcPct val="133000"/>
              </a:lnSpc>
              <a:defRPr i="0" sz="1600" b="0">
                <a:solidFill>
                  <a:srgbClr val="4B5563"/>
                </a:solidFill>
                <a:latin typeface="Inter"/>
              </a:defRPr>
            </a:pPr>
            <a:r>
              <a:rPr i="0" sz="1600" b="0">
                <a:solidFill>
                  <a:srgbClr val="4B5563"/>
                </a:solidFill>
                <a:latin typeface="Inter"/>
              </a:rPr>
              <a:t>Nous ciblons les industriels et professionnels avec des ventes directes et établissons des contrats à long terme avec de grands comptes pour une base client solide.</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Projections Financières Robustes</a:t>
            </a:r>
          </a:p>
        </p:txBody>
      </p:sp>
      <p:sp>
        <p:nvSpPr>
          <p:cNvPr id="10" name="TextBox 9"/>
          <p:cNvSpPr txBox="1"/>
          <p:nvPr/>
        </p:nvSpPr>
        <p:spPr>
          <a:xfrm>
            <a:off x="91440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CA annuel projeté de </a:t>
            </a:r>
            <a:r>
              <a:rPr i="0" sz="1600" b="1">
                <a:solidFill>
                  <a:srgbClr val="4B5563"/>
                </a:solidFill>
                <a:latin typeface="Inter"/>
              </a:rPr>
              <a:t>4.2 Mrds DZD</a:t>
            </a:r>
            <a:r>
              <a:rPr i="0" sz="1600" b="0">
                <a:solidFill>
                  <a:srgbClr val="4B5563"/>
                </a:solidFill>
                <a:latin typeface="Inter"/>
              </a:rPr>
              <a:t>, soutenu par la demande locale. MRR projeté de </a:t>
            </a:r>
            <a:r>
              <a:rPr i="0" sz="1600" b="1">
                <a:solidFill>
                  <a:srgbClr val="4B5563"/>
                </a:solidFill>
                <a:latin typeface="Inter"/>
              </a:rPr>
              <a:t>350.2 M DZD</a:t>
            </a:r>
            <a:r>
              <a:rPr i="0" sz="1600" b="0">
                <a:solidFill>
                  <a:srgbClr val="4B5563"/>
                </a:solidFill>
                <a:latin typeface="Inter"/>
              </a:rPr>
              <a:t> pour une stabilité financière continue.</a:t>
            </a:r>
          </a:p>
        </p:txBody>
      </p:sp>
      <p:sp>
        <p:nvSpPr>
          <p:cNvPr id="11" name="TextBox 10"/>
          <p:cNvSpPr txBox="1"/>
          <p:nvPr/>
        </p:nvSpPr>
        <p:spPr>
          <a:xfrm>
            <a:off x="1016000" y="55118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03</a:t>
            </a:r>
          </a:p>
        </p:txBody>
      </p:sp>
      <p:sp>
        <p:nvSpPr>
          <p:cNvPr id="12" name="TextBox 11"/>
          <p:cNvSpPr txBox="1"/>
          <p:nvPr/>
        </p:nvSpPr>
        <p:spPr>
          <a:xfrm>
            <a:off x="1828800" y="56134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Modèle Scalable et Rentable</a:t>
            </a:r>
          </a:p>
        </p:txBody>
      </p:sp>
      <p:sp>
        <p:nvSpPr>
          <p:cNvPr id="13" name="TextBox 12"/>
          <p:cNvSpPr txBox="1"/>
          <p:nvPr/>
        </p:nvSpPr>
        <p:spPr>
          <a:xfrm>
            <a:off x="1828800" y="61722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Notre structure est optimisée pour une croissance rapide et une expansion future, visant des marges saines grâce à l'efficacité de la production locale.</a:t>
            </a:r>
          </a:p>
        </p:txBody>
      </p:sp>
      <p:pic>
        <p:nvPicPr>
          <p:cNvPr id="14" name="Picture 13" descr="833805fc-ea3c-401a-94a1-0257a14fbd0d.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Traction: Équipe Solide &amp; Objectifs Clairs</a:t>
            </a:r>
          </a:p>
        </p:txBody>
      </p:sp>
      <p:pic>
        <p:nvPicPr>
          <p:cNvPr id="3" name="Picture 2" descr="149f8c13-4a85-4731-8762-c3b45689c2b8.png"/>
          <p:cNvPicPr>
            <a:picLocks noChangeAspect="1"/>
          </p:cNvPicPr>
          <p:nvPr/>
        </p:nvPicPr>
        <p:blipFill>
          <a:blip r:embed="rId3"/>
          <a:stretch>
            <a:fillRect/>
          </a:stretch>
        </p:blipFill>
        <p:spPr>
          <a:xfrm>
            <a:off x="1016000" y="1778000"/>
            <a:ext cx="6705600" cy="6959600"/>
          </a:xfrm>
          <a:prstGeom prst="rect">
            <a:avLst/>
          </a:prstGeom>
        </p:spPr>
      </p:pic>
      <p:pic>
        <p:nvPicPr>
          <p:cNvPr id="4" name="Picture 3" descr="8971885c-e24a-471b-a664-783ebe7f9344.png"/>
          <p:cNvPicPr>
            <a:picLocks noChangeAspect="1"/>
          </p:cNvPicPr>
          <p:nvPr/>
        </p:nvPicPr>
        <p:blipFill>
          <a:blip r:embed="rId4"/>
          <a:stretch>
            <a:fillRect/>
          </a:stretch>
        </p:blipFill>
        <p:spPr>
          <a:xfrm>
            <a:off x="7010400" y="2794000"/>
            <a:ext cx="304800" cy="304800"/>
          </a:xfrm>
          <a:prstGeom prst="rect">
            <a:avLst/>
          </a:prstGeom>
        </p:spPr>
      </p:pic>
      <p:sp>
        <p:nvSpPr>
          <p:cNvPr id="5" name="TextBox 4"/>
          <p:cNvSpPr txBox="1"/>
          <p:nvPr/>
        </p:nvSpPr>
        <p:spPr>
          <a:xfrm>
            <a:off x="8534400" y="2438400"/>
            <a:ext cx="6731000" cy="7493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progression est assurée par une équipe expérimentée, des certifications clés et une capacité de production opérationnelle.</a:t>
            </a:r>
          </a:p>
        </p:txBody>
      </p:sp>
      <p:sp>
        <p:nvSpPr>
          <p:cNvPr id="6" name="Rounded Rectangle 5"/>
          <p:cNvSpPr/>
          <p:nvPr/>
        </p:nvSpPr>
        <p:spPr>
          <a:xfrm>
            <a:off x="8534400" y="35814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da5d2ec1-2975-4cde-83e2-2ca61daa0bfd.png"/>
          <p:cNvPicPr>
            <a:picLocks noChangeAspect="1"/>
          </p:cNvPicPr>
          <p:nvPr/>
        </p:nvPicPr>
        <p:blipFill>
          <a:blip r:embed="rId5"/>
          <a:stretch>
            <a:fillRect/>
          </a:stretch>
        </p:blipFill>
        <p:spPr>
          <a:xfrm>
            <a:off x="8686800" y="3746500"/>
            <a:ext cx="304800" cy="304800"/>
          </a:xfrm>
          <a:prstGeom prst="rect">
            <a:avLst/>
          </a:prstGeom>
        </p:spPr>
      </p:pic>
      <p:sp>
        <p:nvSpPr>
          <p:cNvPr id="8" name="TextBox 7"/>
          <p:cNvSpPr txBox="1"/>
          <p:nvPr/>
        </p:nvSpPr>
        <p:spPr>
          <a:xfrm>
            <a:off x="9347200" y="35814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Certifications ISO</a:t>
            </a:r>
          </a:p>
        </p:txBody>
      </p:sp>
      <p:sp>
        <p:nvSpPr>
          <p:cNvPr id="9" name="Rounded Rectangle 8"/>
          <p:cNvSpPr/>
          <p:nvPr/>
        </p:nvSpPr>
        <p:spPr>
          <a:xfrm>
            <a:off x="9347200" y="40386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2164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Obtention des certifications ISO 9001 (Qualité) et ISO 14001 (Environnement) pour garantir nos standards.</a:t>
            </a:r>
          </a:p>
        </p:txBody>
      </p:sp>
      <p:sp>
        <p:nvSpPr>
          <p:cNvPr id="11" name="Rounded Rectangle 10"/>
          <p:cNvSpPr/>
          <p:nvPr/>
        </p:nvSpPr>
        <p:spPr>
          <a:xfrm>
            <a:off x="8534400" y="51816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0efed259-b808-41ab-9e9d-3efe28a2b675.png"/>
          <p:cNvPicPr>
            <a:picLocks noChangeAspect="1"/>
          </p:cNvPicPr>
          <p:nvPr/>
        </p:nvPicPr>
        <p:blipFill>
          <a:blip r:embed="rId6"/>
          <a:stretch>
            <a:fillRect/>
          </a:stretch>
        </p:blipFill>
        <p:spPr>
          <a:xfrm>
            <a:off x="8686800" y="5346700"/>
            <a:ext cx="304800" cy="304800"/>
          </a:xfrm>
          <a:prstGeom prst="rect">
            <a:avLst/>
          </a:prstGeom>
        </p:spPr>
      </p:pic>
      <p:sp>
        <p:nvSpPr>
          <p:cNvPr id="13" name="TextBox 12"/>
          <p:cNvSpPr txBox="1"/>
          <p:nvPr/>
        </p:nvSpPr>
        <p:spPr>
          <a:xfrm>
            <a:off x="9347200" y="51816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Capacité &amp; Lancement</a:t>
            </a:r>
          </a:p>
        </p:txBody>
      </p:sp>
      <p:sp>
        <p:nvSpPr>
          <p:cNvPr id="14" name="Rounded Rectangle 13"/>
          <p:cNvSpPr/>
          <p:nvPr/>
        </p:nvSpPr>
        <p:spPr>
          <a:xfrm>
            <a:off x="9347200" y="56388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58166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Installations modernes prêtes pour 10 gammes de produits. Lancement rapide et efficace de la production.</a:t>
            </a:r>
          </a:p>
        </p:txBody>
      </p:sp>
      <p:sp>
        <p:nvSpPr>
          <p:cNvPr id="16" name="Rounded Rectangle 15"/>
          <p:cNvSpPr/>
          <p:nvPr/>
        </p:nvSpPr>
        <p:spPr>
          <a:xfrm>
            <a:off x="8534400" y="67818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6e79515f-f66b-4ecc-a042-e3ca339c1f50.png"/>
          <p:cNvPicPr>
            <a:picLocks noChangeAspect="1"/>
          </p:cNvPicPr>
          <p:nvPr/>
        </p:nvPicPr>
        <p:blipFill>
          <a:blip r:embed="rId7"/>
          <a:stretch>
            <a:fillRect/>
          </a:stretch>
        </p:blipFill>
        <p:spPr>
          <a:xfrm>
            <a:off x="8686800" y="6946900"/>
            <a:ext cx="304800" cy="304800"/>
          </a:xfrm>
          <a:prstGeom prst="rect">
            <a:avLst/>
          </a:prstGeom>
        </p:spPr>
      </p:pic>
      <p:sp>
        <p:nvSpPr>
          <p:cNvPr id="18" name="TextBox 17"/>
          <p:cNvSpPr txBox="1"/>
          <p:nvPr/>
        </p:nvSpPr>
        <p:spPr>
          <a:xfrm>
            <a:off x="9347200" y="67818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Équipe &amp; Vision Stratégique</a:t>
            </a:r>
          </a:p>
        </p:txBody>
      </p:sp>
      <p:sp>
        <p:nvSpPr>
          <p:cNvPr id="19" name="Rounded Rectangle 18"/>
          <p:cNvSpPr/>
          <p:nvPr/>
        </p:nvSpPr>
        <p:spPr>
          <a:xfrm>
            <a:off x="9347200" y="72390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4168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Équipe de direction experte avec vision axée sur l'industrialisation locale et les besoins du marché.</a:t>
            </a:r>
          </a:p>
        </p:txBody>
      </p:sp>
      <p:sp>
        <p:nvSpPr>
          <p:cNvPr id="21" name="Rounded Rectangle 20"/>
          <p:cNvSpPr/>
          <p:nvPr/>
        </p:nvSpPr>
        <p:spPr>
          <a:xfrm>
            <a:off x="1524000" y="3225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004f21ae-8fc6-41e2-aefc-8ed230c1d9bb.png"/>
          <p:cNvPicPr>
            <a:picLocks noChangeAspect="1"/>
          </p:cNvPicPr>
          <p:nvPr/>
        </p:nvPicPr>
        <p:blipFill>
          <a:blip r:embed="rId8"/>
          <a:stretch>
            <a:fillRect/>
          </a:stretch>
        </p:blipFill>
        <p:spPr>
          <a:xfrm>
            <a:off x="1524000" y="3225800"/>
            <a:ext cx="5689600" cy="4064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9779000" cy="762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Stratégie Commerciale</a:t>
            </a:r>
          </a:p>
        </p:txBody>
      </p:sp>
      <p:sp>
        <p:nvSpPr>
          <p:cNvPr id="3" name="Rounded Rectangle 2"/>
          <p:cNvSpPr/>
          <p:nvPr/>
        </p:nvSpPr>
        <p:spPr>
          <a:xfrm>
            <a:off x="1016000" y="1574800"/>
            <a:ext cx="12192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4" name="Picture 3" descr="1f0e6689-f5d1-4623-9743-5042b8aea285.png"/>
          <p:cNvPicPr>
            <a:picLocks noChangeAspect="1"/>
          </p:cNvPicPr>
          <p:nvPr/>
        </p:nvPicPr>
        <p:blipFill>
          <a:blip r:embed="rId3"/>
          <a:stretch>
            <a:fillRect/>
          </a:stretch>
        </p:blipFill>
        <p:spPr>
          <a:xfrm>
            <a:off x="11176000" y="609600"/>
            <a:ext cx="4064000" cy="2438400"/>
          </a:xfrm>
          <a:prstGeom prst="rect">
            <a:avLst/>
          </a:prstGeom>
        </p:spPr>
      </p:pic>
      <p:sp>
        <p:nvSpPr>
          <p:cNvPr id="5" name="TextBox 4"/>
          <p:cNvSpPr txBox="1"/>
          <p:nvPr/>
        </p:nvSpPr>
        <p:spPr>
          <a:xfrm>
            <a:off x="10160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01</a:t>
            </a:r>
          </a:p>
        </p:txBody>
      </p:sp>
      <p:sp>
        <p:nvSpPr>
          <p:cNvPr id="6" name="TextBox 5"/>
          <p:cNvSpPr txBox="1"/>
          <p:nvPr/>
        </p:nvSpPr>
        <p:spPr>
          <a:xfrm>
            <a:off x="18288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Approche Commerciale Directe</a:t>
            </a:r>
          </a:p>
        </p:txBody>
      </p:sp>
      <p:sp>
        <p:nvSpPr>
          <p:cNvPr id="7" name="TextBox 6"/>
          <p:cNvSpPr txBox="1"/>
          <p:nvPr/>
        </p:nvSpPr>
        <p:spPr>
          <a:xfrm>
            <a:off x="18288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Ventes ciblées aux industriels et grands projets, complétées par une participation active aux salons professionnels pour maximiser la visibilité.</a:t>
            </a:r>
          </a:p>
        </p:txBody>
      </p:sp>
      <p:sp>
        <p:nvSpPr>
          <p:cNvPr id="8" name="TextBox 7"/>
          <p:cNvSpPr txBox="1"/>
          <p:nvPr/>
        </p:nvSpPr>
        <p:spPr>
          <a:xfrm>
            <a:off x="8331200" y="34544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02</a:t>
            </a:r>
          </a:p>
        </p:txBody>
      </p:sp>
      <p:sp>
        <p:nvSpPr>
          <p:cNvPr id="9" name="TextBox 8"/>
          <p:cNvSpPr txBox="1"/>
          <p:nvPr/>
        </p:nvSpPr>
        <p:spPr>
          <a:xfrm>
            <a:off x="9144000" y="35560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Logistique Optimale</a:t>
            </a:r>
          </a:p>
        </p:txBody>
      </p:sp>
      <p:sp>
        <p:nvSpPr>
          <p:cNvPr id="10" name="TextBox 9"/>
          <p:cNvSpPr txBox="1"/>
          <p:nvPr/>
        </p:nvSpPr>
        <p:spPr>
          <a:xfrm>
            <a:off x="9144000" y="41148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Production locale assurant une livraison nationale rapide en moins de 2 semaines, offrant un avantage concurrentiel significatif.</a:t>
            </a:r>
          </a:p>
        </p:txBody>
      </p:sp>
      <p:sp>
        <p:nvSpPr>
          <p:cNvPr id="11" name="TextBox 10"/>
          <p:cNvSpPr txBox="1"/>
          <p:nvPr/>
        </p:nvSpPr>
        <p:spPr>
          <a:xfrm>
            <a:off x="1016000" y="5181600"/>
            <a:ext cx="635000" cy="609600"/>
          </a:xfrm>
          <a:prstGeom prst="rect">
            <a:avLst/>
          </a:prstGeom>
          <a:noFill/>
        </p:spPr>
        <p:txBody>
          <a:bodyPr wrap="square" lIns="0" rIns="0" tIns="0" bIns="0">
            <a:spAutoFit/>
          </a:bodyPr>
          <a:lstStyle/>
          <a:p>
            <a:pPr algn="l">
              <a:lnSpc>
                <a:spcPct val="70000"/>
              </a:lnSpc>
              <a:defRPr i="0" sz="4800" b="1">
                <a:solidFill>
                  <a:srgbClr val="111827"/>
                </a:solidFill>
                <a:latin typeface="Inter"/>
              </a:defRPr>
            </a:pPr>
            <a:r>
              <a:rPr i="0" sz="4800" b="1">
                <a:solidFill>
                  <a:srgbClr val="111827"/>
                </a:solidFill>
                <a:latin typeface="Inter"/>
              </a:rPr>
              <a:t>03</a:t>
            </a:r>
          </a:p>
        </p:txBody>
      </p:sp>
      <p:sp>
        <p:nvSpPr>
          <p:cNvPr id="12" name="TextBox 11"/>
          <p:cNvSpPr txBox="1"/>
          <p:nvPr/>
        </p:nvSpPr>
        <p:spPr>
          <a:xfrm>
            <a:off x="1828800" y="5283200"/>
            <a:ext cx="6121400" cy="406400"/>
          </a:xfrm>
          <a:prstGeom prst="rect">
            <a:avLst/>
          </a:prstGeom>
          <a:noFill/>
        </p:spPr>
        <p:txBody>
          <a:bodyPr wrap="square" lIns="0" rIns="0" tIns="0" bIns="0">
            <a:spAutoFit/>
          </a:bodyPr>
          <a:lstStyle/>
          <a:p>
            <a:pPr algn="l">
              <a:defRPr i="0" sz="2400" b="1">
                <a:solidFill>
                  <a:srgbClr val="111827"/>
                </a:solidFill>
                <a:latin typeface="Inter"/>
              </a:defRPr>
            </a:pPr>
            <a:r>
              <a:rPr i="0" sz="2400" b="1">
                <a:solidFill>
                  <a:srgbClr val="111827"/>
                </a:solidFill>
                <a:latin typeface="Inter"/>
              </a:rPr>
              <a:t>Marketing et Vente B2B</a:t>
            </a:r>
          </a:p>
        </p:txBody>
      </p:sp>
      <p:sp>
        <p:nvSpPr>
          <p:cNvPr id="13" name="TextBox 12"/>
          <p:cNvSpPr txBox="1"/>
          <p:nvPr/>
        </p:nvSpPr>
        <p:spPr>
          <a:xfrm>
            <a:off x="1828800" y="5842000"/>
            <a:ext cx="61214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Optimisation du cycle de vente B2B (2-4 mois) avec des campagnes marketing ciblées sur la qualité, la compétitivité et la valeur locale.</a:t>
            </a:r>
          </a:p>
        </p:txBody>
      </p:sp>
      <p:pic>
        <p:nvPicPr>
          <p:cNvPr id="14" name="Picture 13" descr="833805fc-ea3c-401a-94a1-0257a14fbd0d.png"/>
          <p:cNvPicPr>
            <a:picLocks noChangeAspect="1"/>
          </p:cNvPicPr>
          <p:nvPr/>
        </p:nvPicPr>
        <p:blipFill>
          <a:blip r:embed="rId4"/>
          <a:stretch>
            <a:fillRect/>
          </a:stretch>
        </p:blipFill>
        <p:spPr>
          <a:xfrm>
            <a:off x="0" y="8128000"/>
            <a:ext cx="16256000" cy="1016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16000" y="609600"/>
            <a:ext cx="14249400" cy="1524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Concurrence: Notre Avantage Différenciateur</a:t>
            </a:r>
          </a:p>
        </p:txBody>
      </p:sp>
      <p:pic>
        <p:nvPicPr>
          <p:cNvPr id="3" name="Picture 2" descr="e38523f4-40b6-4836-a79a-c1ae755b1164.png"/>
          <p:cNvPicPr>
            <a:picLocks noChangeAspect="1"/>
          </p:cNvPicPr>
          <p:nvPr/>
        </p:nvPicPr>
        <p:blipFill>
          <a:blip r:embed="rId3"/>
          <a:stretch>
            <a:fillRect/>
          </a:stretch>
        </p:blipFill>
        <p:spPr>
          <a:xfrm>
            <a:off x="1016000" y="2540000"/>
            <a:ext cx="6705600" cy="6197600"/>
          </a:xfrm>
          <a:prstGeom prst="rect">
            <a:avLst/>
          </a:prstGeom>
        </p:spPr>
      </p:pic>
      <p:pic>
        <p:nvPicPr>
          <p:cNvPr id="4" name="Picture 3" descr="8971885c-e24a-471b-a664-783ebe7f9344.png"/>
          <p:cNvPicPr>
            <a:picLocks noChangeAspect="1"/>
          </p:cNvPicPr>
          <p:nvPr/>
        </p:nvPicPr>
        <p:blipFill>
          <a:blip r:embed="rId4"/>
          <a:stretch>
            <a:fillRect/>
          </a:stretch>
        </p:blipFill>
        <p:spPr>
          <a:xfrm>
            <a:off x="7010400" y="3556000"/>
            <a:ext cx="304800" cy="304800"/>
          </a:xfrm>
          <a:prstGeom prst="rect">
            <a:avLst/>
          </a:prstGeom>
        </p:spPr>
      </p:pic>
      <p:sp>
        <p:nvSpPr>
          <p:cNvPr id="5" name="TextBox 4"/>
          <p:cNvSpPr txBox="1"/>
          <p:nvPr/>
        </p:nvSpPr>
        <p:spPr>
          <a:xfrm>
            <a:off x="8534400" y="2628900"/>
            <a:ext cx="6731000" cy="1117600"/>
          </a:xfrm>
          <a:prstGeom prst="rect">
            <a:avLst/>
          </a:prstGeom>
          <a:noFill/>
        </p:spPr>
        <p:txBody>
          <a:bodyPr wrap="square" lIns="0" rIns="0" tIns="0" bIns="0">
            <a:spAutoFit/>
          </a:bodyPr>
          <a:lstStyle/>
          <a:p>
            <a:pPr algn="l">
              <a:lnSpc>
                <a:spcPct val="133000"/>
              </a:lnSpc>
              <a:defRPr i="0" sz="1800" b="0">
                <a:solidFill>
                  <a:srgbClr val="4B5563"/>
                </a:solidFill>
                <a:latin typeface="Inter"/>
              </a:defRPr>
            </a:pPr>
            <a:r>
              <a:rPr i="0" sz="1800" b="0">
                <a:solidFill>
                  <a:srgbClr val="4B5563"/>
                </a:solidFill>
                <a:latin typeface="Inter"/>
              </a:rPr>
              <a:t>Notre positionnement stratégique nous permet de fournir une production locale de haute qualité à un prix compétitif, surclassant les importateurs et producteurs locaux.</a:t>
            </a:r>
          </a:p>
        </p:txBody>
      </p:sp>
      <p:sp>
        <p:nvSpPr>
          <p:cNvPr id="6" name="Rounded Rectangle 5"/>
          <p:cNvSpPr/>
          <p:nvPr/>
        </p:nvSpPr>
        <p:spPr>
          <a:xfrm>
            <a:off x="8534400" y="41529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7" name="Picture 6" descr="0efed259-b808-41ab-9e9d-3efe28a2b675.png"/>
          <p:cNvPicPr>
            <a:picLocks noChangeAspect="1"/>
          </p:cNvPicPr>
          <p:nvPr/>
        </p:nvPicPr>
        <p:blipFill>
          <a:blip r:embed="rId5"/>
          <a:stretch>
            <a:fillRect/>
          </a:stretch>
        </p:blipFill>
        <p:spPr>
          <a:xfrm>
            <a:off x="8686800" y="4318000"/>
            <a:ext cx="304800" cy="304800"/>
          </a:xfrm>
          <a:prstGeom prst="rect">
            <a:avLst/>
          </a:prstGeom>
        </p:spPr>
      </p:pic>
      <p:sp>
        <p:nvSpPr>
          <p:cNvPr id="8" name="TextBox 7"/>
          <p:cNvSpPr txBox="1"/>
          <p:nvPr/>
        </p:nvSpPr>
        <p:spPr>
          <a:xfrm>
            <a:off x="9347200" y="41529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Expertise Locale &amp; Proximité</a:t>
            </a:r>
          </a:p>
        </p:txBody>
      </p:sp>
      <p:sp>
        <p:nvSpPr>
          <p:cNvPr id="9" name="Rounded Rectangle 8"/>
          <p:cNvSpPr/>
          <p:nvPr/>
        </p:nvSpPr>
        <p:spPr>
          <a:xfrm>
            <a:off x="9347200" y="46101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347200" y="47879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Connaissance approfondie du marché, réactivité client inégalée et service après-vente de premier ordre.</a:t>
            </a:r>
          </a:p>
        </p:txBody>
      </p:sp>
      <p:sp>
        <p:nvSpPr>
          <p:cNvPr id="11" name="Rounded Rectangle 10"/>
          <p:cNvSpPr/>
          <p:nvPr/>
        </p:nvSpPr>
        <p:spPr>
          <a:xfrm>
            <a:off x="8534400" y="57531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2" name="Picture 11" descr="0efed259-b808-41ab-9e9d-3efe28a2b675.png"/>
          <p:cNvPicPr>
            <a:picLocks noChangeAspect="1"/>
          </p:cNvPicPr>
          <p:nvPr/>
        </p:nvPicPr>
        <p:blipFill>
          <a:blip r:embed="rId5"/>
          <a:stretch>
            <a:fillRect/>
          </a:stretch>
        </p:blipFill>
        <p:spPr>
          <a:xfrm>
            <a:off x="8686800" y="5918200"/>
            <a:ext cx="304800" cy="304800"/>
          </a:xfrm>
          <a:prstGeom prst="rect">
            <a:avLst/>
          </a:prstGeom>
        </p:spPr>
      </p:pic>
      <p:sp>
        <p:nvSpPr>
          <p:cNvPr id="13" name="TextBox 12"/>
          <p:cNvSpPr txBox="1"/>
          <p:nvPr/>
        </p:nvSpPr>
        <p:spPr>
          <a:xfrm>
            <a:off x="9347200" y="57531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Qualité &amp; Innovation</a:t>
            </a:r>
          </a:p>
        </p:txBody>
      </p:sp>
      <p:sp>
        <p:nvSpPr>
          <p:cNvPr id="14" name="Rounded Rectangle 13"/>
          <p:cNvSpPr/>
          <p:nvPr/>
        </p:nvSpPr>
        <p:spPr>
          <a:xfrm>
            <a:off x="9347200" y="62103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347200" y="63881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Produits de haute qualité constante, innovants grâce à des partenariats technologiques solides.</a:t>
            </a:r>
          </a:p>
        </p:txBody>
      </p:sp>
      <p:sp>
        <p:nvSpPr>
          <p:cNvPr id="16" name="Rounded Rectangle 15"/>
          <p:cNvSpPr/>
          <p:nvPr/>
        </p:nvSpPr>
        <p:spPr>
          <a:xfrm>
            <a:off x="8534400" y="7353300"/>
            <a:ext cx="609600" cy="609600"/>
          </a:xfrm>
          <a:prstGeom prst="roundRect">
            <a:avLst>
              <a:gd name="adj" fmla="val 16666"/>
            </a:avLst>
          </a:prstGeom>
          <a:solidFill>
            <a:srgbClr val="9333EA"/>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7" name="Picture 16" descr="a08c8acb-377f-43aa-af5f-4eccbb872bba.png"/>
          <p:cNvPicPr>
            <a:picLocks noChangeAspect="1"/>
          </p:cNvPicPr>
          <p:nvPr/>
        </p:nvPicPr>
        <p:blipFill>
          <a:blip r:embed="rId6"/>
          <a:stretch>
            <a:fillRect/>
          </a:stretch>
        </p:blipFill>
        <p:spPr>
          <a:xfrm>
            <a:off x="8686800" y="7518400"/>
            <a:ext cx="304800" cy="304800"/>
          </a:xfrm>
          <a:prstGeom prst="rect">
            <a:avLst/>
          </a:prstGeom>
        </p:spPr>
      </p:pic>
      <p:sp>
        <p:nvSpPr>
          <p:cNvPr id="18" name="TextBox 17"/>
          <p:cNvSpPr txBox="1"/>
          <p:nvPr/>
        </p:nvSpPr>
        <p:spPr>
          <a:xfrm>
            <a:off x="9347200" y="7353300"/>
            <a:ext cx="5918200" cy="355600"/>
          </a:xfrm>
          <a:prstGeom prst="rect">
            <a:avLst/>
          </a:prstGeom>
          <a:noFill/>
        </p:spPr>
        <p:txBody>
          <a:bodyPr wrap="square" lIns="0" rIns="0" tIns="0" bIns="0">
            <a:spAutoFit/>
          </a:bodyPr>
          <a:lstStyle/>
          <a:p>
            <a:pPr algn="l">
              <a:defRPr i="0" sz="2000" b="1">
                <a:solidFill>
                  <a:srgbClr val="111827"/>
                </a:solidFill>
                <a:latin typeface="Inter"/>
              </a:defRPr>
            </a:pPr>
            <a:r>
              <a:rPr i="0" sz="2000" b="1">
                <a:solidFill>
                  <a:srgbClr val="111827"/>
                </a:solidFill>
                <a:latin typeface="Inter"/>
              </a:rPr>
              <a:t>Personnalisation &amp; Rapidité</a:t>
            </a:r>
          </a:p>
        </p:txBody>
      </p:sp>
      <p:sp>
        <p:nvSpPr>
          <p:cNvPr id="19" name="Rounded Rectangle 18"/>
          <p:cNvSpPr/>
          <p:nvPr/>
        </p:nvSpPr>
        <p:spPr>
          <a:xfrm>
            <a:off x="9347200" y="7810500"/>
            <a:ext cx="609600" cy="25400"/>
          </a:xfrm>
          <a:prstGeom prst="roundRect">
            <a:avLst>
              <a:gd name="adj" fmla="val 2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TextBox 19"/>
          <p:cNvSpPr txBox="1"/>
          <p:nvPr/>
        </p:nvSpPr>
        <p:spPr>
          <a:xfrm>
            <a:off x="9347200" y="7988300"/>
            <a:ext cx="5918200" cy="660400"/>
          </a:xfrm>
          <a:prstGeom prst="rect">
            <a:avLst/>
          </a:prstGeom>
          <a:noFill/>
        </p:spPr>
        <p:txBody>
          <a:bodyPr wrap="square" lIns="0" rIns="0" tIns="0" bIns="0">
            <a:spAutoFit/>
          </a:bodyPr>
          <a:lstStyle/>
          <a:p>
            <a:pPr algn="l">
              <a:defRPr i="0" sz="1600" b="0">
                <a:solidFill>
                  <a:srgbClr val="4B5563"/>
                </a:solidFill>
                <a:latin typeface="Inter"/>
              </a:defRPr>
            </a:pPr>
            <a:r>
              <a:rPr i="0" sz="1600" b="0">
                <a:solidFill>
                  <a:srgbClr val="4B5563"/>
                </a:solidFill>
                <a:latin typeface="Inter"/>
              </a:rPr>
              <a:t>Offre de solutions sur mesure avec des délais de livraison très courts, optimisant la chaîne d'approvisionnement.</a:t>
            </a:r>
          </a:p>
        </p:txBody>
      </p:sp>
      <p:sp>
        <p:nvSpPr>
          <p:cNvPr id="21" name="Rounded Rectangle 20"/>
          <p:cNvSpPr/>
          <p:nvPr/>
        </p:nvSpPr>
        <p:spPr>
          <a:xfrm>
            <a:off x="1524000" y="3606800"/>
            <a:ext cx="56896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2" name="Picture 21" descr="7308f8ac-8bff-478c-941d-4480386b88b3.png"/>
          <p:cNvPicPr>
            <a:picLocks noChangeAspect="1"/>
          </p:cNvPicPr>
          <p:nvPr/>
        </p:nvPicPr>
        <p:blipFill>
          <a:blip r:embed="rId7"/>
          <a:stretch>
            <a:fillRect/>
          </a:stretch>
        </p:blipFill>
        <p:spPr>
          <a:xfrm>
            <a:off x="1524000" y="3606800"/>
            <a:ext cx="5689600" cy="4064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117600" y="2336800"/>
            <a:ext cx="6502400" cy="4064000"/>
          </a:xfrm>
          <a:prstGeom prst="roundRect">
            <a:avLst>
              <a:gd name="adj" fmla="val 5000"/>
            </a:avLst>
          </a:prstGeom>
          <a:solidFill>
            <a:srgbClr val="FFFFFF"/>
          </a:solidFill>
          <a:ln>
            <a:noFill/>
          </a:ln>
          <a:effectLst>
            <a:outerShdw blurRad="190500" dir="5400000" dist="127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f8fc4afc-5f23-4cbf-b07c-98bc5cff6881.png"/>
          <p:cNvPicPr>
            <a:picLocks noChangeAspect="1"/>
          </p:cNvPicPr>
          <p:nvPr/>
        </p:nvPicPr>
        <p:blipFill>
          <a:blip r:embed="rId3"/>
          <a:stretch>
            <a:fillRect/>
          </a:stretch>
        </p:blipFill>
        <p:spPr>
          <a:xfrm>
            <a:off x="1117600" y="2336800"/>
            <a:ext cx="6502400" cy="4064000"/>
          </a:xfrm>
          <a:prstGeom prst="rect">
            <a:avLst/>
          </a:prstGeom>
        </p:spPr>
      </p:pic>
      <p:sp>
        <p:nvSpPr>
          <p:cNvPr id="4" name="TextBox 3"/>
          <p:cNvSpPr txBox="1"/>
          <p:nvPr/>
        </p:nvSpPr>
        <p:spPr>
          <a:xfrm>
            <a:off x="8534400" y="2540000"/>
            <a:ext cx="6731000" cy="2286000"/>
          </a:xfrm>
          <a:prstGeom prst="rect">
            <a:avLst/>
          </a:prstGeom>
          <a:noFill/>
        </p:spPr>
        <p:txBody>
          <a:bodyPr wrap="square" lIns="0" rIns="0" tIns="0" bIns="0">
            <a:spAutoFit/>
          </a:bodyPr>
          <a:lstStyle/>
          <a:p>
            <a:pPr algn="l">
              <a:lnSpc>
                <a:spcPct val="70000"/>
              </a:lnSpc>
              <a:defRPr i="0" sz="6000" b="1">
                <a:solidFill>
                  <a:srgbClr val="111827"/>
                </a:solidFill>
                <a:latin typeface="Inter"/>
              </a:defRPr>
            </a:pPr>
            <a:r>
              <a:rPr i="0" sz="6000" b="1">
                <a:solidFill>
                  <a:srgbClr val="111827"/>
                </a:solidFill>
                <a:latin typeface="Inter"/>
              </a:rPr>
              <a:t>Conclusion: Un Partenariat pour l'Avenir</a:t>
            </a:r>
          </a:p>
        </p:txBody>
      </p:sp>
      <p:sp>
        <p:nvSpPr>
          <p:cNvPr id="5" name="Rounded Rectangle 4"/>
          <p:cNvSpPr/>
          <p:nvPr/>
        </p:nvSpPr>
        <p:spPr>
          <a:xfrm>
            <a:off x="8534400" y="5130800"/>
            <a:ext cx="1016000" cy="50800"/>
          </a:xfrm>
          <a:prstGeom prst="roundRect">
            <a:avLst>
              <a:gd name="adj" fmla="val 100000"/>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8534400" y="5486400"/>
            <a:ext cx="6731000" cy="711200"/>
          </a:xfrm>
          <a:prstGeom prst="rect">
            <a:avLst/>
          </a:prstGeom>
          <a:noFill/>
        </p:spPr>
        <p:txBody>
          <a:bodyPr wrap="square" lIns="0" rIns="0" tIns="0" bIns="0">
            <a:spAutoFit/>
          </a:bodyPr>
          <a:lstStyle/>
          <a:p>
            <a:pPr algn="l">
              <a:defRPr i="0" sz="1800" b="0">
                <a:solidFill>
                  <a:srgbClr val="4B5563"/>
                </a:solidFill>
                <a:latin typeface="Inter"/>
              </a:defRPr>
            </a:pPr>
            <a:r>
              <a:rPr i="0" sz="1800" b="0">
                <a:solidFill>
                  <a:srgbClr val="4B5563"/>
                </a:solidFill>
                <a:latin typeface="Inter"/>
              </a:rPr>
              <a:t>ALLO MAISON: Substituer imports polymères. Créer valeur, emplois. 14.0 Mrd DZD pour complexe. Partenariat d'avenir.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