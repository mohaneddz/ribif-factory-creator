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6256000" cy="9144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Bienvenue à tous. Aujourd'hui, nous vous présentons SARL ALLO MAISON, notre projet de complexe industriel innovant. Notre ambition est de devenir un acteur majeur dans la production de matériaux polymères et composites. Cette initiative est cruciale pour l'industrie locale, car elle répondra à une demande forte et actuellement insatisfaite. Nous sommes convaincus de la pertinence et du potentiel de ce projet.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marché local des polymères et composites souffre d'un déficit de production de qualité. Cette situation nous contraint à importer massivement, ce qui engendre des coûts élevés et des délais de livraison prolongés, impactant gravement notre compétitivité et notre autonomie économique. Il est crucial d'y remédier rapidement.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ALLO MAISON offre une alternative locale et de haute qualité aux produits de construction importés. Notre approche de fabrication innovante réduit les coûts et les délais, tout en garantissant une qualité supérieure. Nous couvrons une large gamme de besoins en construction, des panneaux aux revêtements de sol et aux portes, apportant une valeur ajoutée significative à l'économie locale et à l'industrie.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Nous avons analysé le marché avec rigueur. Le TAM de 280.1 milliards DZD montre l'ampleur de l'opportunité. Notre SAM est de 112.1 milliards DZD, et nous visons 28.0 milliards DZD en SOM. Le timing est idéal, soutenu par la politique de substitution aux importations et la croissance économique, créant un environnement propice à notre expansion.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Notre produit est le fruit d'une production entièrement automatisée, garantissant une précision et une qualité inégalées. La chaîne de production est verticalement intégrée, ce qui nous permet de contrôler chaque étape du processus, de la conception à la fabrication. Nous utilisons des technologies de pointe pour développer et fabriquer nos dix gammes de produits, assurant ainsi leur fiabilité, leur durabilité et leur compétitivité sur le marché national. Cela se traduit par des coûts de production optimisés et une livraison rapide.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Notre modèle économique repose sur des ventes B2B directes aux industriels et des contrats stratégiques. Le chiffre d'affaires annuel projeté est de 4.2 milliards DZD, démontrant un potentiel de croissance robuste. Le revenu mensuel récurrent de 350.2 millions DZD assure une stabilité financière et une forte rentabilité. Nous visons à optimiser nos flux de revenus et à maximiser notre retour sur investissement grâce à cette approche ciblée et efficace.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Nous mettons l'accent sur la qualité dès la conception, comme en témoignent nos futures certifications ISO 9001 et 14001. Nos installations sont prêtes à lancer 10 gammes de produits grâce à des machines à la pointe de la technologie. L'équipe est notre atout majeur, prête à transformer la forte demande du marché en succès commercial. Cet engagement envers l'excellence garantit notre positionnement.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Notre stratégie commerciale est conçue pour une croissance robuste. Nous nous concentrons sur les ventes directes aux industriels et une présence stratégique aux salons professionnels. La production locale et la livraison rapide sont des atouts majeurs, tout comme notre cycle de vente B2B optimisé, qui garantit efficacité et satisfaction client. Cette approche nous permettra d'atteindre nos objectifs de marché rapidement.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marché est segmenté entre les importateurs étrangers, principalement de Chine et d'Europe, qui offrent des prix bas mais manquent de flexibilité, et les producteurs locaux fragmentés, souvent plus chers. Notre stratégie est de nous positionner comme le leader de la production locale de haute qualité à un prix compétitif. Nos atouts majeurs incluent notre connaissance approfondie du marché local, nos alliances technologiques et notre engagement envers un service client exceptionnel.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Nous vous remercions. ALLO MAISON vise l'autonomie industrielle par la substitution d'imports de polymères. Un investissement de 14.0 Mrds DZD est essentiel pour créer de la valeur locale et établir notre leadership sur le marché. C'est une opportunité clé pour un impact industriel national fort.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2.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21.png"/><Relationship Id="rId8" Type="http://schemas.openxmlformats.org/officeDocument/2006/relationships/image" Target="../media/image2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23.png"/><Relationship Id="rId6" Type="http://schemas.openxmlformats.org/officeDocument/2006/relationships/image" Target="../media/image20.png"/><Relationship Id="rId7" Type="http://schemas.openxmlformats.org/officeDocument/2006/relationships/image" Target="../media/image2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9.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117600" y="2641600"/>
            <a:ext cx="6502400" cy="4064000"/>
          </a:xfrm>
          <a:prstGeom prst="roundRect">
            <a:avLst>
              <a:gd name="adj" fmla="val 5000"/>
            </a:avLst>
          </a:prstGeom>
          <a:solidFill>
            <a:srgbClr val="FFFFFF"/>
          </a:solidFill>
          <a:ln>
            <a:noFill/>
          </a:ln>
          <a:effectLst>
            <a:outerShdw blurRad="190500" dir="5400000" dist="1270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3" name="Picture 2" descr="038e994b-c00d-4744-b923-f327191f8500.png"/>
          <p:cNvPicPr>
            <a:picLocks noChangeAspect="1"/>
          </p:cNvPicPr>
          <p:nvPr/>
        </p:nvPicPr>
        <p:blipFill>
          <a:blip r:embed="rId3"/>
          <a:stretch>
            <a:fillRect/>
          </a:stretch>
        </p:blipFill>
        <p:spPr>
          <a:xfrm>
            <a:off x="1117600" y="2641600"/>
            <a:ext cx="6502400" cy="4064000"/>
          </a:xfrm>
          <a:prstGeom prst="rect">
            <a:avLst/>
          </a:prstGeom>
        </p:spPr>
      </p:pic>
      <p:sp>
        <p:nvSpPr>
          <p:cNvPr id="4" name="TextBox 3"/>
          <p:cNvSpPr txBox="1"/>
          <p:nvPr/>
        </p:nvSpPr>
        <p:spPr>
          <a:xfrm>
            <a:off x="8534400" y="2247900"/>
            <a:ext cx="6731000" cy="1524000"/>
          </a:xfrm>
          <a:prstGeom prst="rect">
            <a:avLst/>
          </a:prstGeom>
          <a:noFill/>
        </p:spPr>
        <p:txBody>
          <a:bodyPr wrap="square" lIns="0" rIns="0" tIns="0" bIns="0">
            <a:spAutoFit/>
          </a:bodyPr>
          <a:lstStyle/>
          <a:p>
            <a:pPr algn="l">
              <a:lnSpc>
                <a:spcPct val="70000"/>
              </a:lnSpc>
              <a:defRPr i="0" sz="6000" b="1">
                <a:solidFill>
                  <a:srgbClr val="111827"/>
                </a:solidFill>
                <a:latin typeface="Inter"/>
              </a:defRPr>
            </a:pPr>
            <a:r>
              <a:rPr i="0" sz="6000" b="1">
                <a:solidFill>
                  <a:srgbClr val="111827"/>
                </a:solidFill>
                <a:latin typeface="Inter"/>
              </a:rPr>
              <a:t>SARL ALLO MAISON</a:t>
            </a:r>
          </a:p>
        </p:txBody>
      </p:sp>
      <p:sp>
        <p:nvSpPr>
          <p:cNvPr id="5" name="Rounded Rectangle 4"/>
          <p:cNvSpPr/>
          <p:nvPr/>
        </p:nvSpPr>
        <p:spPr>
          <a:xfrm>
            <a:off x="8534400" y="4076700"/>
            <a:ext cx="1016000" cy="50800"/>
          </a:xfrm>
          <a:prstGeom prst="roundRect">
            <a:avLst>
              <a:gd name="adj" fmla="val 1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8534400" y="4432300"/>
            <a:ext cx="6731000" cy="1066800"/>
          </a:xfrm>
          <a:prstGeom prst="rect">
            <a:avLst/>
          </a:prstGeom>
          <a:noFill/>
        </p:spPr>
        <p:txBody>
          <a:bodyPr wrap="square" lIns="0" rIns="0" tIns="0" bIns="0">
            <a:spAutoFit/>
          </a:bodyPr>
          <a:lstStyle/>
          <a:p>
            <a:pPr algn="l">
              <a:lnSpc>
                <a:spcPct val="126000"/>
              </a:lnSpc>
              <a:defRPr i="0" sz="1800" b="0">
                <a:solidFill>
                  <a:srgbClr val="4B5563"/>
                </a:solidFill>
                <a:latin typeface="Inter"/>
              </a:defRPr>
            </a:pPr>
            <a:r>
              <a:rPr i="0" sz="1800" b="0">
                <a:solidFill>
                  <a:srgbClr val="4B5563"/>
                </a:solidFill>
                <a:latin typeface="Inter"/>
              </a:rPr>
              <a:t>Pitch investisseur pour SARL ALLO MAISON. Nous transformons l'industrie locale avec des matériaux polymères et composites essentiels, répondant à une demande non satisfaite.</a:t>
            </a:r>
          </a:p>
        </p:txBody>
      </p:sp>
      <p:sp>
        <p:nvSpPr>
          <p:cNvPr id="7" name="Rounded Rectangle 6"/>
          <p:cNvSpPr/>
          <p:nvPr/>
        </p:nvSpPr>
        <p:spPr>
          <a:xfrm>
            <a:off x="8534400" y="5803900"/>
            <a:ext cx="6705600" cy="1295400"/>
          </a:xfrm>
          <a:prstGeom prst="roundRect">
            <a:avLst>
              <a:gd name="adj" fmla="val 7843"/>
            </a:avLst>
          </a:prstGeom>
          <a:solidFill>
            <a:srgbClr val="FFFFFF">
              <a:alpha val="50000"/>
            </a:srgbClr>
          </a:solidFill>
          <a:ln w="12700">
            <a:solidFill>
              <a:srgbClr val="E5E7EB"/>
            </a:solidFill>
          </a:ln>
          <a:effectLst>
            <a:outerShdw blurRad="25400" dir="5400000" dist="12700" rotWithShape="0">
              <a:srgbClr val="000000">
                <a:alpha val="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Rounded Rectangle 7"/>
          <p:cNvSpPr/>
          <p:nvPr/>
        </p:nvSpPr>
        <p:spPr>
          <a:xfrm>
            <a:off x="8851900" y="6146800"/>
            <a:ext cx="609600" cy="609600"/>
          </a:xfrm>
          <a:prstGeom prst="roundRect">
            <a:avLst>
              <a:gd name="adj" fmla="val 5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9" name="TextBox 8"/>
          <p:cNvSpPr txBox="1"/>
          <p:nvPr/>
        </p:nvSpPr>
        <p:spPr>
          <a:xfrm>
            <a:off x="8940800" y="6299200"/>
            <a:ext cx="457200" cy="304800"/>
          </a:xfrm>
          <a:prstGeom prst="rect">
            <a:avLst/>
          </a:prstGeom>
          <a:noFill/>
        </p:spPr>
        <p:txBody>
          <a:bodyPr wrap="square" lIns="0" rIns="0" tIns="0" bIns="0">
            <a:spAutoFit/>
          </a:bodyPr>
          <a:lstStyle/>
          <a:p>
            <a:pPr algn="l">
              <a:defRPr i="0" sz="1600" b="1">
                <a:solidFill>
                  <a:srgbClr val="FFFFFF"/>
                </a:solidFill>
                <a:latin typeface="Inter"/>
              </a:defRPr>
            </a:pPr>
            <a:r>
              <a:rPr i="0" sz="1600" b="1">
                <a:solidFill>
                  <a:srgbClr val="FFFFFF"/>
                </a:solidFill>
                <a:latin typeface="Inter"/>
              </a:rPr>
              <a:t>LDD</a:t>
            </a:r>
          </a:p>
        </p:txBody>
      </p:sp>
      <p:sp>
        <p:nvSpPr>
          <p:cNvPr id="10" name="TextBox 9"/>
          <p:cNvSpPr txBox="1"/>
          <p:nvPr/>
        </p:nvSpPr>
        <p:spPr>
          <a:xfrm>
            <a:off x="9664700" y="6121400"/>
            <a:ext cx="24384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L'Équipe de Direction</a:t>
            </a:r>
          </a:p>
        </p:txBody>
      </p:sp>
      <p:sp>
        <p:nvSpPr>
          <p:cNvPr id="11" name="TextBox 10"/>
          <p:cNvSpPr txBox="1"/>
          <p:nvPr/>
        </p:nvSpPr>
        <p:spPr>
          <a:xfrm>
            <a:off x="9664700" y="6477000"/>
            <a:ext cx="2438400" cy="3048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28 Décembre 2025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16000" y="609600"/>
            <a:ext cx="14249400" cy="762000"/>
          </a:xfrm>
          <a:prstGeom prst="rect">
            <a:avLst/>
          </a:prstGeom>
          <a:noFill/>
        </p:spPr>
        <p:txBody>
          <a:bodyPr wrap="square" lIns="0" rIns="0" tIns="0" bIns="0">
            <a:spAutoFit/>
          </a:bodyPr>
          <a:lstStyle/>
          <a:p>
            <a:pPr algn="l">
              <a:lnSpc>
                <a:spcPct val="70000"/>
              </a:lnSpc>
              <a:defRPr i="0" sz="6000" b="1">
                <a:solidFill>
                  <a:srgbClr val="111827"/>
                </a:solidFill>
                <a:latin typeface="Inter"/>
              </a:defRPr>
            </a:pPr>
            <a:r>
              <a:rPr i="0" sz="6000" b="1">
                <a:solidFill>
                  <a:srgbClr val="111827"/>
                </a:solidFill>
                <a:latin typeface="Inter"/>
              </a:rPr>
              <a:t>Le Problème</a:t>
            </a:r>
          </a:p>
        </p:txBody>
      </p:sp>
      <p:pic>
        <p:nvPicPr>
          <p:cNvPr id="3" name="Picture 2" descr="3a9e7bb3-d928-40e9-96fe-26e54aea2e43.png"/>
          <p:cNvPicPr>
            <a:picLocks noChangeAspect="1"/>
          </p:cNvPicPr>
          <p:nvPr/>
        </p:nvPicPr>
        <p:blipFill>
          <a:blip r:embed="rId3"/>
          <a:stretch>
            <a:fillRect/>
          </a:stretch>
        </p:blipFill>
        <p:spPr>
          <a:xfrm>
            <a:off x="1016000" y="1778000"/>
            <a:ext cx="6705600" cy="6959600"/>
          </a:xfrm>
          <a:prstGeom prst="rect">
            <a:avLst/>
          </a:prstGeom>
        </p:spPr>
      </p:pic>
      <p:pic>
        <p:nvPicPr>
          <p:cNvPr id="4" name="Picture 3" descr="93ff1d44-9525-4beb-8f72-34fb30ce3583.png"/>
          <p:cNvPicPr>
            <a:picLocks noChangeAspect="1"/>
          </p:cNvPicPr>
          <p:nvPr/>
        </p:nvPicPr>
        <p:blipFill>
          <a:blip r:embed="rId4"/>
          <a:stretch>
            <a:fillRect/>
          </a:stretch>
        </p:blipFill>
        <p:spPr>
          <a:xfrm>
            <a:off x="7010400" y="2794000"/>
            <a:ext cx="304800" cy="304800"/>
          </a:xfrm>
          <a:prstGeom prst="rect">
            <a:avLst/>
          </a:prstGeom>
        </p:spPr>
      </p:pic>
      <p:sp>
        <p:nvSpPr>
          <p:cNvPr id="5" name="TextBox 4"/>
          <p:cNvSpPr txBox="1"/>
          <p:nvPr/>
        </p:nvSpPr>
        <p:spPr>
          <a:xfrm>
            <a:off x="8534400" y="3111500"/>
            <a:ext cx="6731000" cy="368300"/>
          </a:xfrm>
          <a:prstGeom prst="rect">
            <a:avLst/>
          </a:prstGeom>
          <a:noFill/>
        </p:spPr>
        <p:txBody>
          <a:bodyPr wrap="square" lIns="0" rIns="0" tIns="0" bIns="0">
            <a:spAutoFit/>
          </a:bodyPr>
          <a:lstStyle/>
          <a:p>
            <a:pPr algn="l">
              <a:defRPr i="0" sz="1800" b="0">
                <a:solidFill>
                  <a:srgbClr val="4B5563"/>
                </a:solidFill>
                <a:latin typeface="Inter"/>
              </a:defRPr>
            </a:pPr>
            <a:r>
              <a:rPr i="0" sz="1800" b="0">
                <a:solidFill>
                  <a:srgbClr val="4B5563"/>
                </a:solidFill>
                <a:latin typeface="Inter"/>
              </a:rPr>
              <a:t>Déficit local de polymères et composites de qualité.</a:t>
            </a:r>
          </a:p>
        </p:txBody>
      </p:sp>
      <p:sp>
        <p:nvSpPr>
          <p:cNvPr id="6" name="Rounded Rectangle 5"/>
          <p:cNvSpPr/>
          <p:nvPr/>
        </p:nvSpPr>
        <p:spPr>
          <a:xfrm>
            <a:off x="8534400" y="3898900"/>
            <a:ext cx="609600" cy="609600"/>
          </a:xfrm>
          <a:prstGeom prst="roundRect">
            <a:avLst>
              <a:gd name="adj" fmla="val 16666"/>
            </a:avLst>
          </a:prstGeom>
          <a:solidFill>
            <a:srgbClr val="9333EA"/>
          </a:solidFill>
          <a:ln>
            <a:noFill/>
          </a:ln>
          <a:effectLst>
            <a:outerShdw blurRad="76200" dir="5400000" dist="508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7" name="Picture 6" descr="3178e620-552a-43d4-beaf-716eb3e07dbb.png"/>
          <p:cNvPicPr>
            <a:picLocks noChangeAspect="1"/>
          </p:cNvPicPr>
          <p:nvPr/>
        </p:nvPicPr>
        <p:blipFill>
          <a:blip r:embed="rId5"/>
          <a:stretch>
            <a:fillRect/>
          </a:stretch>
        </p:blipFill>
        <p:spPr>
          <a:xfrm>
            <a:off x="8686800" y="4051300"/>
            <a:ext cx="304800" cy="304800"/>
          </a:xfrm>
          <a:prstGeom prst="rect">
            <a:avLst/>
          </a:prstGeom>
        </p:spPr>
      </p:pic>
      <p:sp>
        <p:nvSpPr>
          <p:cNvPr id="8" name="TextBox 7"/>
          <p:cNvSpPr txBox="1"/>
          <p:nvPr/>
        </p:nvSpPr>
        <p:spPr>
          <a:xfrm>
            <a:off x="9347200" y="3898900"/>
            <a:ext cx="59182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Coûts d'Importation Élevés</a:t>
            </a:r>
          </a:p>
        </p:txBody>
      </p:sp>
      <p:sp>
        <p:nvSpPr>
          <p:cNvPr id="9" name="Rounded Rectangle 8"/>
          <p:cNvSpPr/>
          <p:nvPr/>
        </p:nvSpPr>
        <p:spPr>
          <a:xfrm>
            <a:off x="9347200" y="4356100"/>
            <a:ext cx="609600" cy="25400"/>
          </a:xfrm>
          <a:prstGeom prst="roundRect">
            <a:avLst>
              <a:gd name="adj" fmla="val 2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9347200" y="4533900"/>
            <a:ext cx="5918200" cy="3302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L'importation de polymères et composites coûte cher.</a:t>
            </a:r>
          </a:p>
        </p:txBody>
      </p:sp>
      <p:sp>
        <p:nvSpPr>
          <p:cNvPr id="11" name="Rounded Rectangle 10"/>
          <p:cNvSpPr/>
          <p:nvPr/>
        </p:nvSpPr>
        <p:spPr>
          <a:xfrm>
            <a:off x="8534400" y="5168900"/>
            <a:ext cx="609600" cy="609600"/>
          </a:xfrm>
          <a:prstGeom prst="roundRect">
            <a:avLst>
              <a:gd name="adj" fmla="val 16666"/>
            </a:avLst>
          </a:prstGeom>
          <a:solidFill>
            <a:srgbClr val="9333EA"/>
          </a:solidFill>
          <a:ln>
            <a:noFill/>
          </a:ln>
          <a:effectLst>
            <a:outerShdw blurRad="76200" dir="5400000" dist="508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2" name="Picture 11" descr="a06d7e40-ab8c-4d28-8cda-2586e882f938.png"/>
          <p:cNvPicPr>
            <a:picLocks noChangeAspect="1"/>
          </p:cNvPicPr>
          <p:nvPr/>
        </p:nvPicPr>
        <p:blipFill>
          <a:blip r:embed="rId6"/>
          <a:stretch>
            <a:fillRect/>
          </a:stretch>
        </p:blipFill>
        <p:spPr>
          <a:xfrm>
            <a:off x="8686800" y="5321300"/>
            <a:ext cx="304800" cy="304800"/>
          </a:xfrm>
          <a:prstGeom prst="rect">
            <a:avLst/>
          </a:prstGeom>
        </p:spPr>
      </p:pic>
      <p:sp>
        <p:nvSpPr>
          <p:cNvPr id="13" name="TextBox 12"/>
          <p:cNvSpPr txBox="1"/>
          <p:nvPr/>
        </p:nvSpPr>
        <p:spPr>
          <a:xfrm>
            <a:off x="9347200" y="5168900"/>
            <a:ext cx="59182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Délais de Livraison Longs</a:t>
            </a:r>
          </a:p>
        </p:txBody>
      </p:sp>
      <p:sp>
        <p:nvSpPr>
          <p:cNvPr id="14" name="Rounded Rectangle 13"/>
          <p:cNvSpPr/>
          <p:nvPr/>
        </p:nvSpPr>
        <p:spPr>
          <a:xfrm>
            <a:off x="9347200" y="5626100"/>
            <a:ext cx="609600" cy="25400"/>
          </a:xfrm>
          <a:prstGeom prst="roundRect">
            <a:avLst>
              <a:gd name="adj" fmla="val 2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5" name="TextBox 14"/>
          <p:cNvSpPr txBox="1"/>
          <p:nvPr/>
        </p:nvSpPr>
        <p:spPr>
          <a:xfrm>
            <a:off x="9347200" y="5803900"/>
            <a:ext cx="5918200" cy="3302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Importations entraînent de longs délais d'approvisionnement.</a:t>
            </a:r>
          </a:p>
        </p:txBody>
      </p:sp>
      <p:sp>
        <p:nvSpPr>
          <p:cNvPr id="16" name="Rounded Rectangle 15"/>
          <p:cNvSpPr/>
          <p:nvPr/>
        </p:nvSpPr>
        <p:spPr>
          <a:xfrm>
            <a:off x="8534400" y="6438900"/>
            <a:ext cx="609600" cy="609600"/>
          </a:xfrm>
          <a:prstGeom prst="roundRect">
            <a:avLst>
              <a:gd name="adj" fmla="val 16666"/>
            </a:avLst>
          </a:prstGeom>
          <a:solidFill>
            <a:srgbClr val="9333EA"/>
          </a:solidFill>
          <a:ln>
            <a:noFill/>
          </a:ln>
          <a:effectLst>
            <a:outerShdw blurRad="76200" dir="5400000" dist="508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7" name="Picture 16" descr="9656a9b4-f916-4615-88ee-7e03051819b1.png"/>
          <p:cNvPicPr>
            <a:picLocks noChangeAspect="1"/>
          </p:cNvPicPr>
          <p:nvPr/>
        </p:nvPicPr>
        <p:blipFill>
          <a:blip r:embed="rId7"/>
          <a:stretch>
            <a:fillRect/>
          </a:stretch>
        </p:blipFill>
        <p:spPr>
          <a:xfrm>
            <a:off x="8686800" y="6591300"/>
            <a:ext cx="304800" cy="304800"/>
          </a:xfrm>
          <a:prstGeom prst="rect">
            <a:avLst/>
          </a:prstGeom>
        </p:spPr>
      </p:pic>
      <p:sp>
        <p:nvSpPr>
          <p:cNvPr id="18" name="TextBox 17"/>
          <p:cNvSpPr txBox="1"/>
          <p:nvPr/>
        </p:nvSpPr>
        <p:spPr>
          <a:xfrm>
            <a:off x="9347200" y="6438900"/>
            <a:ext cx="59182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Dépendance Économique Nationale</a:t>
            </a:r>
          </a:p>
        </p:txBody>
      </p:sp>
      <p:sp>
        <p:nvSpPr>
          <p:cNvPr id="19" name="Rounded Rectangle 18"/>
          <p:cNvSpPr/>
          <p:nvPr/>
        </p:nvSpPr>
        <p:spPr>
          <a:xfrm>
            <a:off x="9347200" y="6896100"/>
            <a:ext cx="609600" cy="25400"/>
          </a:xfrm>
          <a:prstGeom prst="roundRect">
            <a:avLst>
              <a:gd name="adj" fmla="val 2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0" name="TextBox 19"/>
          <p:cNvSpPr txBox="1"/>
          <p:nvPr/>
        </p:nvSpPr>
        <p:spPr>
          <a:xfrm>
            <a:off x="9347200" y="7073900"/>
            <a:ext cx="5918200" cy="3302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Le déficit local crée une forte dépendance économique.</a:t>
            </a:r>
          </a:p>
        </p:txBody>
      </p:sp>
      <p:sp>
        <p:nvSpPr>
          <p:cNvPr id="21" name="Rounded Rectangle 20"/>
          <p:cNvSpPr/>
          <p:nvPr/>
        </p:nvSpPr>
        <p:spPr>
          <a:xfrm>
            <a:off x="1524000" y="3225800"/>
            <a:ext cx="5689600" cy="4064000"/>
          </a:xfrm>
          <a:prstGeom prst="roundRect">
            <a:avLst>
              <a:gd name="adj" fmla="val 5000"/>
            </a:avLst>
          </a:prstGeom>
          <a:solidFill>
            <a:srgbClr val="FFFFFF"/>
          </a:solidFill>
          <a:ln>
            <a:noFill/>
          </a:ln>
          <a:effectLst>
            <a:outerShdw blurRad="190500" dir="5400000" dist="1270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22" name="Picture 21" descr="4c205bf2-9525-447c-b868-6e0d1700174c.png"/>
          <p:cNvPicPr>
            <a:picLocks noChangeAspect="1"/>
          </p:cNvPicPr>
          <p:nvPr/>
        </p:nvPicPr>
        <p:blipFill>
          <a:blip r:embed="rId8"/>
          <a:stretch>
            <a:fillRect/>
          </a:stretch>
        </p:blipFill>
        <p:spPr>
          <a:xfrm>
            <a:off x="1524000" y="3225800"/>
            <a:ext cx="5689600" cy="4064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16000" y="609600"/>
            <a:ext cx="14249400" cy="762000"/>
          </a:xfrm>
          <a:prstGeom prst="rect">
            <a:avLst/>
          </a:prstGeom>
          <a:noFill/>
        </p:spPr>
        <p:txBody>
          <a:bodyPr wrap="square" lIns="0" rIns="0" tIns="0" bIns="0">
            <a:spAutoFit/>
          </a:bodyPr>
          <a:lstStyle/>
          <a:p>
            <a:pPr algn="l">
              <a:lnSpc>
                <a:spcPct val="70000"/>
              </a:lnSpc>
              <a:defRPr i="0" sz="6000" b="1">
                <a:solidFill>
                  <a:srgbClr val="111827"/>
                </a:solidFill>
                <a:latin typeface="Inter"/>
              </a:defRPr>
            </a:pPr>
            <a:r>
              <a:rPr i="0" sz="6000" b="1">
                <a:solidFill>
                  <a:srgbClr val="111827"/>
                </a:solidFill>
                <a:latin typeface="Inter"/>
              </a:rPr>
              <a:t>ALLO MAISON: La Solution</a:t>
            </a:r>
          </a:p>
        </p:txBody>
      </p:sp>
      <p:pic>
        <p:nvPicPr>
          <p:cNvPr id="3" name="Picture 2" descr="3a9e7bb3-d928-40e9-96fe-26e54aea2e43.png"/>
          <p:cNvPicPr>
            <a:picLocks noChangeAspect="1"/>
          </p:cNvPicPr>
          <p:nvPr/>
        </p:nvPicPr>
        <p:blipFill>
          <a:blip r:embed="rId3"/>
          <a:stretch>
            <a:fillRect/>
          </a:stretch>
        </p:blipFill>
        <p:spPr>
          <a:xfrm>
            <a:off x="1016000" y="1778000"/>
            <a:ext cx="6705600" cy="6959600"/>
          </a:xfrm>
          <a:prstGeom prst="rect">
            <a:avLst/>
          </a:prstGeom>
        </p:spPr>
      </p:pic>
      <p:pic>
        <p:nvPicPr>
          <p:cNvPr id="4" name="Picture 3" descr="93ff1d44-9525-4beb-8f72-34fb30ce3583.png"/>
          <p:cNvPicPr>
            <a:picLocks noChangeAspect="1"/>
          </p:cNvPicPr>
          <p:nvPr/>
        </p:nvPicPr>
        <p:blipFill>
          <a:blip r:embed="rId4"/>
          <a:stretch>
            <a:fillRect/>
          </a:stretch>
        </p:blipFill>
        <p:spPr>
          <a:xfrm>
            <a:off x="7010400" y="2794000"/>
            <a:ext cx="304800" cy="304800"/>
          </a:xfrm>
          <a:prstGeom prst="rect">
            <a:avLst/>
          </a:prstGeom>
        </p:spPr>
      </p:pic>
      <p:sp>
        <p:nvSpPr>
          <p:cNvPr id="5" name="TextBox 4"/>
          <p:cNvSpPr txBox="1"/>
          <p:nvPr/>
        </p:nvSpPr>
        <p:spPr>
          <a:xfrm>
            <a:off x="8534400" y="2247900"/>
            <a:ext cx="6731000" cy="1117600"/>
          </a:xfrm>
          <a:prstGeom prst="rect">
            <a:avLst/>
          </a:prstGeom>
          <a:noFill/>
        </p:spPr>
        <p:txBody>
          <a:bodyPr wrap="square" lIns="0" rIns="0" tIns="0" bIns="0">
            <a:spAutoFit/>
          </a:bodyPr>
          <a:lstStyle/>
          <a:p>
            <a:pPr algn="l">
              <a:lnSpc>
                <a:spcPct val="133000"/>
              </a:lnSpc>
              <a:defRPr i="0" sz="1800" b="0">
                <a:solidFill>
                  <a:srgbClr val="4B5563"/>
                </a:solidFill>
                <a:latin typeface="Inter"/>
              </a:defRPr>
            </a:pPr>
            <a:r>
              <a:rPr i="0" sz="1800" b="0">
                <a:solidFill>
                  <a:srgbClr val="4B5563"/>
                </a:solidFill>
                <a:latin typeface="Inter"/>
              </a:rPr>
              <a:t>ALLO MAISON offre une fabrication locale innovante de produits de construction de haute qualité. Nous remplaçons les importations coûteuses, créant une valeur ajoutée pour l'industrie.</a:t>
            </a:r>
          </a:p>
        </p:txBody>
      </p:sp>
      <p:sp>
        <p:nvSpPr>
          <p:cNvPr id="6" name="Rounded Rectangle 5"/>
          <p:cNvSpPr/>
          <p:nvPr/>
        </p:nvSpPr>
        <p:spPr>
          <a:xfrm>
            <a:off x="8534400" y="3771900"/>
            <a:ext cx="609600" cy="609600"/>
          </a:xfrm>
          <a:prstGeom prst="roundRect">
            <a:avLst>
              <a:gd name="adj" fmla="val 16666"/>
            </a:avLst>
          </a:prstGeom>
          <a:solidFill>
            <a:srgbClr val="9333EA"/>
          </a:solidFill>
          <a:ln>
            <a:noFill/>
          </a:ln>
          <a:effectLst>
            <a:outerShdw blurRad="76200" dir="5400000" dist="508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7" name="Picture 6" descr="04c5e783-7876-4b7b-9e83-3011313785ce.png"/>
          <p:cNvPicPr>
            <a:picLocks noChangeAspect="1"/>
          </p:cNvPicPr>
          <p:nvPr/>
        </p:nvPicPr>
        <p:blipFill>
          <a:blip r:embed="rId5"/>
          <a:stretch>
            <a:fillRect/>
          </a:stretch>
        </p:blipFill>
        <p:spPr>
          <a:xfrm>
            <a:off x="8686800" y="3937000"/>
            <a:ext cx="304800" cy="304800"/>
          </a:xfrm>
          <a:prstGeom prst="rect">
            <a:avLst/>
          </a:prstGeom>
        </p:spPr>
      </p:pic>
      <p:sp>
        <p:nvSpPr>
          <p:cNvPr id="8" name="TextBox 7"/>
          <p:cNvSpPr txBox="1"/>
          <p:nvPr/>
        </p:nvSpPr>
        <p:spPr>
          <a:xfrm>
            <a:off x="9347200" y="3771900"/>
            <a:ext cx="59182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Panneaux Polymères &amp; Composites</a:t>
            </a:r>
          </a:p>
        </p:txBody>
      </p:sp>
      <p:sp>
        <p:nvSpPr>
          <p:cNvPr id="9" name="Rounded Rectangle 8"/>
          <p:cNvSpPr/>
          <p:nvPr/>
        </p:nvSpPr>
        <p:spPr>
          <a:xfrm>
            <a:off x="9347200" y="4229100"/>
            <a:ext cx="609600" cy="25400"/>
          </a:xfrm>
          <a:prstGeom prst="roundRect">
            <a:avLst>
              <a:gd name="adj" fmla="val 2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9347200" y="4406900"/>
            <a:ext cx="5918200" cy="6604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Fabrication locale de panneaux polymères, composites et muraux techniques/décoratifs de haute qualité.</a:t>
            </a:r>
          </a:p>
        </p:txBody>
      </p:sp>
      <p:sp>
        <p:nvSpPr>
          <p:cNvPr id="11" name="Rounded Rectangle 10"/>
          <p:cNvSpPr/>
          <p:nvPr/>
        </p:nvSpPr>
        <p:spPr>
          <a:xfrm>
            <a:off x="8534400" y="5372100"/>
            <a:ext cx="609600" cy="609600"/>
          </a:xfrm>
          <a:prstGeom prst="roundRect">
            <a:avLst>
              <a:gd name="adj" fmla="val 16666"/>
            </a:avLst>
          </a:prstGeom>
          <a:solidFill>
            <a:srgbClr val="9333EA"/>
          </a:solidFill>
          <a:ln>
            <a:noFill/>
          </a:ln>
          <a:effectLst>
            <a:outerShdw blurRad="76200" dir="5400000" dist="508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2" name="Picture 11" descr="f9b7bac8-7275-446e-a758-c857c22fcd7c.png"/>
          <p:cNvPicPr>
            <a:picLocks noChangeAspect="1"/>
          </p:cNvPicPr>
          <p:nvPr/>
        </p:nvPicPr>
        <p:blipFill>
          <a:blip r:embed="rId6"/>
          <a:stretch>
            <a:fillRect/>
          </a:stretch>
        </p:blipFill>
        <p:spPr>
          <a:xfrm>
            <a:off x="8686800" y="5537200"/>
            <a:ext cx="304800" cy="304800"/>
          </a:xfrm>
          <a:prstGeom prst="rect">
            <a:avLst/>
          </a:prstGeom>
        </p:spPr>
      </p:pic>
      <p:sp>
        <p:nvSpPr>
          <p:cNvPr id="13" name="TextBox 12"/>
          <p:cNvSpPr txBox="1"/>
          <p:nvPr/>
        </p:nvSpPr>
        <p:spPr>
          <a:xfrm>
            <a:off x="9347200" y="5372100"/>
            <a:ext cx="59182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Revêtements de Sol SPC Étanche</a:t>
            </a:r>
          </a:p>
        </p:txBody>
      </p:sp>
      <p:sp>
        <p:nvSpPr>
          <p:cNvPr id="14" name="Rounded Rectangle 13"/>
          <p:cNvSpPr/>
          <p:nvPr/>
        </p:nvSpPr>
        <p:spPr>
          <a:xfrm>
            <a:off x="9347200" y="5829300"/>
            <a:ext cx="609600" cy="25400"/>
          </a:xfrm>
          <a:prstGeom prst="roundRect">
            <a:avLst>
              <a:gd name="adj" fmla="val 2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5" name="TextBox 14"/>
          <p:cNvSpPr txBox="1"/>
          <p:nvPr/>
        </p:nvSpPr>
        <p:spPr>
          <a:xfrm>
            <a:off x="9347200" y="6007100"/>
            <a:ext cx="5918200" cy="6604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Solutions de revêtement de sol SPC avec système clic étanche, durables et faciles à installer.</a:t>
            </a:r>
          </a:p>
        </p:txBody>
      </p:sp>
      <p:sp>
        <p:nvSpPr>
          <p:cNvPr id="16" name="Rounded Rectangle 15"/>
          <p:cNvSpPr/>
          <p:nvPr/>
        </p:nvSpPr>
        <p:spPr>
          <a:xfrm>
            <a:off x="8534400" y="6972300"/>
            <a:ext cx="609600" cy="609600"/>
          </a:xfrm>
          <a:prstGeom prst="roundRect">
            <a:avLst>
              <a:gd name="adj" fmla="val 16666"/>
            </a:avLst>
          </a:prstGeom>
          <a:solidFill>
            <a:srgbClr val="9333EA"/>
          </a:solidFill>
          <a:ln>
            <a:noFill/>
          </a:ln>
          <a:effectLst>
            <a:outerShdw blurRad="76200" dir="5400000" dist="508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7" name="Picture 16" descr="92e13452-2610-40c2-855f-564531da41d9.png"/>
          <p:cNvPicPr>
            <a:picLocks noChangeAspect="1"/>
          </p:cNvPicPr>
          <p:nvPr/>
        </p:nvPicPr>
        <p:blipFill>
          <a:blip r:embed="rId7"/>
          <a:stretch>
            <a:fillRect/>
          </a:stretch>
        </p:blipFill>
        <p:spPr>
          <a:xfrm>
            <a:off x="8686800" y="7137400"/>
            <a:ext cx="304800" cy="304800"/>
          </a:xfrm>
          <a:prstGeom prst="rect">
            <a:avLst/>
          </a:prstGeom>
        </p:spPr>
      </p:pic>
      <p:sp>
        <p:nvSpPr>
          <p:cNvPr id="18" name="TextBox 17"/>
          <p:cNvSpPr txBox="1"/>
          <p:nvPr/>
        </p:nvSpPr>
        <p:spPr>
          <a:xfrm>
            <a:off x="9347200" y="6972300"/>
            <a:ext cx="59182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Portes Int./Ext. &amp; Spécifiques</a:t>
            </a:r>
          </a:p>
        </p:txBody>
      </p:sp>
      <p:sp>
        <p:nvSpPr>
          <p:cNvPr id="19" name="Rounded Rectangle 18"/>
          <p:cNvSpPr/>
          <p:nvPr/>
        </p:nvSpPr>
        <p:spPr>
          <a:xfrm>
            <a:off x="9347200" y="7429500"/>
            <a:ext cx="609600" cy="25400"/>
          </a:xfrm>
          <a:prstGeom prst="roundRect">
            <a:avLst>
              <a:gd name="adj" fmla="val 2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0" name="TextBox 19"/>
          <p:cNvSpPr txBox="1"/>
          <p:nvPr/>
        </p:nvSpPr>
        <p:spPr>
          <a:xfrm>
            <a:off x="9347200" y="7607300"/>
            <a:ext cx="5918200" cy="6604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Gamme complète de portes intérieures, extérieures, techniques et grand format, fabriquées localement.</a:t>
            </a:r>
          </a:p>
        </p:txBody>
      </p:sp>
      <p:sp>
        <p:nvSpPr>
          <p:cNvPr id="21" name="Rounded Rectangle 20"/>
          <p:cNvSpPr/>
          <p:nvPr/>
        </p:nvSpPr>
        <p:spPr>
          <a:xfrm>
            <a:off x="1524000" y="3225800"/>
            <a:ext cx="5689600" cy="4064000"/>
          </a:xfrm>
          <a:prstGeom prst="roundRect">
            <a:avLst>
              <a:gd name="adj" fmla="val 5000"/>
            </a:avLst>
          </a:prstGeom>
          <a:solidFill>
            <a:srgbClr val="FFFFFF"/>
          </a:solidFill>
          <a:ln>
            <a:noFill/>
          </a:ln>
          <a:effectLst>
            <a:outerShdw blurRad="190500" dir="5400000" dist="1270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22" name="Picture 21" descr="1a9698f6-c08d-487f-8981-abf246b4a8b2.png"/>
          <p:cNvPicPr>
            <a:picLocks noChangeAspect="1"/>
          </p:cNvPicPr>
          <p:nvPr/>
        </p:nvPicPr>
        <p:blipFill>
          <a:blip r:embed="rId8"/>
          <a:stretch>
            <a:fillRect/>
          </a:stretch>
        </p:blipFill>
        <p:spPr>
          <a:xfrm>
            <a:off x="1524000" y="3225800"/>
            <a:ext cx="5689600" cy="4064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16000" y="609600"/>
            <a:ext cx="9779000" cy="762000"/>
          </a:xfrm>
          <a:prstGeom prst="rect">
            <a:avLst/>
          </a:prstGeom>
          <a:noFill/>
        </p:spPr>
        <p:txBody>
          <a:bodyPr wrap="square" lIns="0" rIns="0" tIns="0" bIns="0">
            <a:spAutoFit/>
          </a:bodyPr>
          <a:lstStyle/>
          <a:p>
            <a:pPr algn="l">
              <a:lnSpc>
                <a:spcPct val="70000"/>
              </a:lnSpc>
              <a:defRPr i="0" sz="6000" b="1">
                <a:solidFill>
                  <a:srgbClr val="111827"/>
                </a:solidFill>
                <a:latin typeface="Inter"/>
              </a:defRPr>
            </a:pPr>
            <a:r>
              <a:rPr i="0" sz="6000" b="1">
                <a:solidFill>
                  <a:srgbClr val="111827"/>
                </a:solidFill>
                <a:latin typeface="Inter"/>
              </a:rPr>
              <a:t>Taille du marché</a:t>
            </a:r>
          </a:p>
        </p:txBody>
      </p:sp>
      <p:sp>
        <p:nvSpPr>
          <p:cNvPr id="3" name="Rounded Rectangle 2"/>
          <p:cNvSpPr/>
          <p:nvPr/>
        </p:nvSpPr>
        <p:spPr>
          <a:xfrm>
            <a:off x="1016000" y="1574800"/>
            <a:ext cx="1219200" cy="50800"/>
          </a:xfrm>
          <a:prstGeom prst="roundRect">
            <a:avLst>
              <a:gd name="adj" fmla="val 1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4" name="Picture 3" descr="f81c180d-948d-47eb-9066-4285bc38cfed.png"/>
          <p:cNvPicPr>
            <a:picLocks noChangeAspect="1"/>
          </p:cNvPicPr>
          <p:nvPr/>
        </p:nvPicPr>
        <p:blipFill>
          <a:blip r:embed="rId3"/>
          <a:stretch>
            <a:fillRect/>
          </a:stretch>
        </p:blipFill>
        <p:spPr>
          <a:xfrm>
            <a:off x="11176000" y="609600"/>
            <a:ext cx="4064000" cy="2438400"/>
          </a:xfrm>
          <a:prstGeom prst="rect">
            <a:avLst/>
          </a:prstGeom>
        </p:spPr>
      </p:pic>
      <p:sp>
        <p:nvSpPr>
          <p:cNvPr id="5" name="TextBox 4"/>
          <p:cNvSpPr txBox="1"/>
          <p:nvPr/>
        </p:nvSpPr>
        <p:spPr>
          <a:xfrm>
            <a:off x="1016000" y="3454400"/>
            <a:ext cx="635000" cy="609600"/>
          </a:xfrm>
          <a:prstGeom prst="rect">
            <a:avLst/>
          </a:prstGeom>
          <a:noFill/>
        </p:spPr>
        <p:txBody>
          <a:bodyPr wrap="square" lIns="0" rIns="0" tIns="0" bIns="0">
            <a:spAutoFit/>
          </a:bodyPr>
          <a:lstStyle/>
          <a:p>
            <a:pPr algn="l">
              <a:lnSpc>
                <a:spcPct val="70000"/>
              </a:lnSpc>
              <a:defRPr i="0" sz="4800" b="1">
                <a:solidFill>
                  <a:srgbClr val="111827"/>
                </a:solidFill>
                <a:latin typeface="Inter"/>
              </a:defRPr>
            </a:pPr>
            <a:r>
              <a:rPr i="0" sz="4800" b="1">
                <a:solidFill>
                  <a:srgbClr val="111827"/>
                </a:solidFill>
                <a:latin typeface="Inter"/>
              </a:rPr>
              <a:t>01</a:t>
            </a:r>
          </a:p>
        </p:txBody>
      </p:sp>
      <p:sp>
        <p:nvSpPr>
          <p:cNvPr id="6" name="TextBox 5"/>
          <p:cNvSpPr txBox="1"/>
          <p:nvPr/>
        </p:nvSpPr>
        <p:spPr>
          <a:xfrm>
            <a:off x="1828800" y="3556000"/>
            <a:ext cx="6121400" cy="406400"/>
          </a:xfrm>
          <a:prstGeom prst="rect">
            <a:avLst/>
          </a:prstGeom>
          <a:noFill/>
        </p:spPr>
        <p:txBody>
          <a:bodyPr wrap="square" lIns="0" rIns="0" tIns="0" bIns="0">
            <a:spAutoFit/>
          </a:bodyPr>
          <a:lstStyle/>
          <a:p>
            <a:pPr algn="l">
              <a:defRPr i="0" sz="2400" b="1">
                <a:solidFill>
                  <a:srgbClr val="111827"/>
                </a:solidFill>
                <a:latin typeface="Inter"/>
              </a:defRPr>
            </a:pPr>
            <a:r>
              <a:rPr i="0" sz="2400" b="1">
                <a:solidFill>
                  <a:srgbClr val="111827"/>
                </a:solidFill>
                <a:latin typeface="Inter"/>
              </a:rPr>
              <a:t>Marché Total Adressable (TAM)</a:t>
            </a:r>
          </a:p>
        </p:txBody>
      </p:sp>
      <p:sp>
        <p:nvSpPr>
          <p:cNvPr id="7" name="TextBox 6"/>
          <p:cNvSpPr txBox="1"/>
          <p:nvPr/>
        </p:nvSpPr>
        <p:spPr>
          <a:xfrm>
            <a:off x="1828800" y="4114800"/>
            <a:ext cx="6121400" cy="330200"/>
          </a:xfrm>
          <a:prstGeom prst="rect">
            <a:avLst/>
          </a:prstGeom>
          <a:noFill/>
        </p:spPr>
        <p:txBody>
          <a:bodyPr wrap="square" lIns="0" rIns="0" tIns="0" bIns="0">
            <a:spAutoFit/>
          </a:bodyPr>
          <a:lstStyle/>
          <a:p>
            <a:pPr algn="l">
              <a:defRPr i="0" sz="1600" b="0">
                <a:solidFill>
                  <a:srgbClr val="4B5563"/>
                </a:solidFill>
                <a:latin typeface="Inter"/>
              </a:defRPr>
            </a:pPr>
            <a:r>
              <a:rPr i="1" sz="1600" b="0">
                <a:solidFill>
                  <a:srgbClr val="4B5563"/>
                </a:solidFill>
                <a:latin typeface="Inter"/>
              </a:rPr>
              <a:t>280.1 milliards DZD</a:t>
            </a:r>
            <a:r>
              <a:rPr i="0" sz="1600" b="0">
                <a:solidFill>
                  <a:srgbClr val="4B5563"/>
                </a:solidFill>
                <a:latin typeface="Inter"/>
              </a:rPr>
              <a:t> représente le potentiel global.</a:t>
            </a:r>
          </a:p>
        </p:txBody>
      </p:sp>
      <p:sp>
        <p:nvSpPr>
          <p:cNvPr id="8" name="TextBox 7"/>
          <p:cNvSpPr txBox="1"/>
          <p:nvPr/>
        </p:nvSpPr>
        <p:spPr>
          <a:xfrm>
            <a:off x="8331200" y="3454400"/>
            <a:ext cx="635000" cy="609600"/>
          </a:xfrm>
          <a:prstGeom prst="rect">
            <a:avLst/>
          </a:prstGeom>
          <a:noFill/>
        </p:spPr>
        <p:txBody>
          <a:bodyPr wrap="square" lIns="0" rIns="0" tIns="0" bIns="0">
            <a:spAutoFit/>
          </a:bodyPr>
          <a:lstStyle/>
          <a:p>
            <a:pPr algn="l">
              <a:lnSpc>
                <a:spcPct val="70000"/>
              </a:lnSpc>
              <a:defRPr i="0" sz="4800" b="1">
                <a:solidFill>
                  <a:srgbClr val="111827"/>
                </a:solidFill>
                <a:latin typeface="Inter"/>
              </a:defRPr>
            </a:pPr>
            <a:r>
              <a:rPr i="0" sz="4800" b="1">
                <a:solidFill>
                  <a:srgbClr val="111827"/>
                </a:solidFill>
                <a:latin typeface="Inter"/>
              </a:rPr>
              <a:t>02</a:t>
            </a:r>
          </a:p>
        </p:txBody>
      </p:sp>
      <p:sp>
        <p:nvSpPr>
          <p:cNvPr id="9" name="TextBox 8"/>
          <p:cNvSpPr txBox="1"/>
          <p:nvPr/>
        </p:nvSpPr>
        <p:spPr>
          <a:xfrm>
            <a:off x="9144000" y="3556000"/>
            <a:ext cx="6121400" cy="406400"/>
          </a:xfrm>
          <a:prstGeom prst="rect">
            <a:avLst/>
          </a:prstGeom>
          <a:noFill/>
        </p:spPr>
        <p:txBody>
          <a:bodyPr wrap="square" lIns="0" rIns="0" tIns="0" bIns="0">
            <a:spAutoFit/>
          </a:bodyPr>
          <a:lstStyle/>
          <a:p>
            <a:pPr algn="l">
              <a:defRPr i="0" sz="2400" b="1">
                <a:solidFill>
                  <a:srgbClr val="111827"/>
                </a:solidFill>
                <a:latin typeface="Inter"/>
              </a:defRPr>
            </a:pPr>
            <a:r>
              <a:rPr i="0" sz="2400" b="1">
                <a:solidFill>
                  <a:srgbClr val="111827"/>
                </a:solidFill>
                <a:latin typeface="Inter"/>
              </a:rPr>
              <a:t>Marché Serviable et Cible (SAM &amp; SOM)</a:t>
            </a:r>
          </a:p>
        </p:txBody>
      </p:sp>
      <p:sp>
        <p:nvSpPr>
          <p:cNvPr id="10" name="TextBox 9"/>
          <p:cNvSpPr txBox="1"/>
          <p:nvPr/>
        </p:nvSpPr>
        <p:spPr>
          <a:xfrm>
            <a:off x="9144000" y="4114800"/>
            <a:ext cx="6121400" cy="3302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SAM: </a:t>
            </a:r>
            <a:r>
              <a:rPr i="1" sz="1600" b="0">
                <a:solidFill>
                  <a:srgbClr val="4B5563"/>
                </a:solidFill>
                <a:latin typeface="Inter"/>
              </a:rPr>
              <a:t>112.1 milliards DZD</a:t>
            </a:r>
            <a:r>
              <a:rPr i="0" sz="1600" b="0">
                <a:solidFill>
                  <a:srgbClr val="4B5563"/>
                </a:solidFill>
                <a:latin typeface="Inter"/>
              </a:rPr>
              <a:t>. SOM ciblé: </a:t>
            </a:r>
            <a:r>
              <a:rPr i="1" sz="1600" b="0">
                <a:solidFill>
                  <a:srgbClr val="4B5563"/>
                </a:solidFill>
                <a:latin typeface="Inter"/>
              </a:rPr>
              <a:t>28.0 milliards DZD</a:t>
            </a:r>
            <a:r>
              <a:rPr i="0" sz="1600" b="0">
                <a:solidFill>
                  <a:srgbClr val="4B5563"/>
                </a:solidFill>
                <a:latin typeface="Inter"/>
              </a:rPr>
              <a:t>.</a:t>
            </a:r>
          </a:p>
        </p:txBody>
      </p:sp>
      <p:sp>
        <p:nvSpPr>
          <p:cNvPr id="11" name="TextBox 10"/>
          <p:cNvSpPr txBox="1"/>
          <p:nvPr/>
        </p:nvSpPr>
        <p:spPr>
          <a:xfrm>
            <a:off x="1016000" y="4851400"/>
            <a:ext cx="635000" cy="609600"/>
          </a:xfrm>
          <a:prstGeom prst="rect">
            <a:avLst/>
          </a:prstGeom>
          <a:noFill/>
        </p:spPr>
        <p:txBody>
          <a:bodyPr wrap="square" lIns="0" rIns="0" tIns="0" bIns="0">
            <a:spAutoFit/>
          </a:bodyPr>
          <a:lstStyle/>
          <a:p>
            <a:pPr algn="l">
              <a:lnSpc>
                <a:spcPct val="70000"/>
              </a:lnSpc>
              <a:defRPr i="0" sz="4800" b="1">
                <a:solidFill>
                  <a:srgbClr val="111827"/>
                </a:solidFill>
                <a:latin typeface="Inter"/>
              </a:defRPr>
            </a:pPr>
            <a:r>
              <a:rPr i="0" sz="4800" b="1">
                <a:solidFill>
                  <a:srgbClr val="111827"/>
                </a:solidFill>
                <a:latin typeface="Inter"/>
              </a:rPr>
              <a:t>03</a:t>
            </a:r>
          </a:p>
        </p:txBody>
      </p:sp>
      <p:sp>
        <p:nvSpPr>
          <p:cNvPr id="12" name="TextBox 11"/>
          <p:cNvSpPr txBox="1"/>
          <p:nvPr/>
        </p:nvSpPr>
        <p:spPr>
          <a:xfrm>
            <a:off x="1828800" y="4953000"/>
            <a:ext cx="6121400" cy="406400"/>
          </a:xfrm>
          <a:prstGeom prst="rect">
            <a:avLst/>
          </a:prstGeom>
          <a:noFill/>
        </p:spPr>
        <p:txBody>
          <a:bodyPr wrap="square" lIns="0" rIns="0" tIns="0" bIns="0">
            <a:spAutoFit/>
          </a:bodyPr>
          <a:lstStyle/>
          <a:p>
            <a:pPr algn="l">
              <a:defRPr i="0" sz="2400" b="1">
                <a:solidFill>
                  <a:srgbClr val="111827"/>
                </a:solidFill>
                <a:latin typeface="Inter"/>
              </a:defRPr>
            </a:pPr>
            <a:r>
              <a:rPr i="0" sz="2400" b="1">
                <a:solidFill>
                  <a:srgbClr val="111827"/>
                </a:solidFill>
                <a:latin typeface="Inter"/>
              </a:rPr>
              <a:t>Moment Stratégique</a:t>
            </a:r>
          </a:p>
        </p:txBody>
      </p:sp>
      <p:sp>
        <p:nvSpPr>
          <p:cNvPr id="13" name="TextBox 12"/>
          <p:cNvSpPr txBox="1"/>
          <p:nvPr/>
        </p:nvSpPr>
        <p:spPr>
          <a:xfrm>
            <a:off x="1828800" y="5511800"/>
            <a:ext cx="6121400" cy="3302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Optimal grâce à la substitution aux importations.</a:t>
            </a:r>
          </a:p>
        </p:txBody>
      </p:sp>
      <p:pic>
        <p:nvPicPr>
          <p:cNvPr id="14" name="Picture 13" descr="8d9b638e-f531-4a0a-9d35-223920cde54b.png"/>
          <p:cNvPicPr>
            <a:picLocks noChangeAspect="1"/>
          </p:cNvPicPr>
          <p:nvPr/>
        </p:nvPicPr>
        <p:blipFill>
          <a:blip r:embed="rId4"/>
          <a:stretch>
            <a:fillRect/>
          </a:stretch>
        </p:blipFill>
        <p:spPr>
          <a:xfrm>
            <a:off x="0" y="8128000"/>
            <a:ext cx="16256000" cy="1016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16000" y="609600"/>
            <a:ext cx="14249400" cy="762000"/>
          </a:xfrm>
          <a:prstGeom prst="rect">
            <a:avLst/>
          </a:prstGeom>
          <a:noFill/>
        </p:spPr>
        <p:txBody>
          <a:bodyPr wrap="square" lIns="0" rIns="0" tIns="0" bIns="0">
            <a:spAutoFit/>
          </a:bodyPr>
          <a:lstStyle/>
          <a:p>
            <a:pPr algn="l">
              <a:lnSpc>
                <a:spcPct val="70000"/>
              </a:lnSpc>
              <a:defRPr i="0" sz="6000" b="1">
                <a:solidFill>
                  <a:srgbClr val="111827"/>
                </a:solidFill>
                <a:latin typeface="Inter"/>
              </a:defRPr>
            </a:pPr>
            <a:r>
              <a:rPr i="0" sz="6000" b="1">
                <a:solidFill>
                  <a:srgbClr val="111827"/>
                </a:solidFill>
                <a:latin typeface="Inter"/>
              </a:rPr>
              <a:t>Le Produit</a:t>
            </a:r>
          </a:p>
        </p:txBody>
      </p:sp>
      <p:pic>
        <p:nvPicPr>
          <p:cNvPr id="3" name="Picture 2" descr="3a9e7bb3-d928-40e9-96fe-26e54aea2e43.png"/>
          <p:cNvPicPr>
            <a:picLocks noChangeAspect="1"/>
          </p:cNvPicPr>
          <p:nvPr/>
        </p:nvPicPr>
        <p:blipFill>
          <a:blip r:embed="rId3"/>
          <a:stretch>
            <a:fillRect/>
          </a:stretch>
        </p:blipFill>
        <p:spPr>
          <a:xfrm>
            <a:off x="1016000" y="1778000"/>
            <a:ext cx="6705600" cy="6959600"/>
          </a:xfrm>
          <a:prstGeom prst="rect">
            <a:avLst/>
          </a:prstGeom>
        </p:spPr>
      </p:pic>
      <p:pic>
        <p:nvPicPr>
          <p:cNvPr id="4" name="Picture 3" descr="93ff1d44-9525-4beb-8f72-34fb30ce3583.png"/>
          <p:cNvPicPr>
            <a:picLocks noChangeAspect="1"/>
          </p:cNvPicPr>
          <p:nvPr/>
        </p:nvPicPr>
        <p:blipFill>
          <a:blip r:embed="rId4"/>
          <a:stretch>
            <a:fillRect/>
          </a:stretch>
        </p:blipFill>
        <p:spPr>
          <a:xfrm>
            <a:off x="7010400" y="2794000"/>
            <a:ext cx="304800" cy="304800"/>
          </a:xfrm>
          <a:prstGeom prst="rect">
            <a:avLst/>
          </a:prstGeom>
        </p:spPr>
      </p:pic>
      <p:sp>
        <p:nvSpPr>
          <p:cNvPr id="5" name="TextBox 4"/>
          <p:cNvSpPr txBox="1"/>
          <p:nvPr/>
        </p:nvSpPr>
        <p:spPr>
          <a:xfrm>
            <a:off x="8534400" y="2247900"/>
            <a:ext cx="6731000" cy="1117600"/>
          </a:xfrm>
          <a:prstGeom prst="rect">
            <a:avLst/>
          </a:prstGeom>
          <a:noFill/>
        </p:spPr>
        <p:txBody>
          <a:bodyPr wrap="square" lIns="0" rIns="0" tIns="0" bIns="0">
            <a:spAutoFit/>
          </a:bodyPr>
          <a:lstStyle/>
          <a:p>
            <a:pPr algn="l">
              <a:lnSpc>
                <a:spcPct val="133000"/>
              </a:lnSpc>
              <a:defRPr i="0" sz="1800" b="0">
                <a:solidFill>
                  <a:srgbClr val="4B5563"/>
                </a:solidFill>
                <a:latin typeface="Inter"/>
              </a:defRPr>
            </a:pPr>
            <a:r>
              <a:rPr i="0" sz="1800" b="0">
                <a:solidFill>
                  <a:srgbClr val="4B5563"/>
                </a:solidFill>
                <a:latin typeface="Inter"/>
              </a:rPr>
              <a:t>ALLO MAISON s'appuie sur une production automatisée de haute précision. Notre chaîne de production est verticalement intégrée, garantissant une qualité supérieure et une efficacité accrue.</a:t>
            </a:r>
          </a:p>
        </p:txBody>
      </p:sp>
      <p:sp>
        <p:nvSpPr>
          <p:cNvPr id="6" name="Rounded Rectangle 5"/>
          <p:cNvSpPr/>
          <p:nvPr/>
        </p:nvSpPr>
        <p:spPr>
          <a:xfrm>
            <a:off x="8534400" y="3771900"/>
            <a:ext cx="609600" cy="609600"/>
          </a:xfrm>
          <a:prstGeom prst="roundRect">
            <a:avLst>
              <a:gd name="adj" fmla="val 16666"/>
            </a:avLst>
          </a:prstGeom>
          <a:solidFill>
            <a:srgbClr val="9333EA"/>
          </a:solidFill>
          <a:ln>
            <a:noFill/>
          </a:ln>
          <a:effectLst>
            <a:outerShdw blurRad="76200" dir="5400000" dist="508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7" name="Picture 6" descr="65e53ba5-46b2-4416-bf02-0d76ad27a71d.png"/>
          <p:cNvPicPr>
            <a:picLocks noChangeAspect="1"/>
          </p:cNvPicPr>
          <p:nvPr/>
        </p:nvPicPr>
        <p:blipFill>
          <a:blip r:embed="rId5"/>
          <a:stretch>
            <a:fillRect/>
          </a:stretch>
        </p:blipFill>
        <p:spPr>
          <a:xfrm>
            <a:off x="8686800" y="3937000"/>
            <a:ext cx="304800" cy="304800"/>
          </a:xfrm>
          <a:prstGeom prst="rect">
            <a:avLst/>
          </a:prstGeom>
        </p:spPr>
      </p:pic>
      <p:sp>
        <p:nvSpPr>
          <p:cNvPr id="8" name="TextBox 7"/>
          <p:cNvSpPr txBox="1"/>
          <p:nvPr/>
        </p:nvSpPr>
        <p:spPr>
          <a:xfrm>
            <a:off x="9347200" y="3771900"/>
            <a:ext cx="59182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Production Automatisée</a:t>
            </a:r>
          </a:p>
        </p:txBody>
      </p:sp>
      <p:sp>
        <p:nvSpPr>
          <p:cNvPr id="9" name="Rounded Rectangle 8"/>
          <p:cNvSpPr/>
          <p:nvPr/>
        </p:nvSpPr>
        <p:spPr>
          <a:xfrm>
            <a:off x="9347200" y="4229100"/>
            <a:ext cx="609600" cy="25400"/>
          </a:xfrm>
          <a:prstGeom prst="roundRect">
            <a:avLst>
              <a:gd name="adj" fmla="val 2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9347200" y="4406900"/>
            <a:ext cx="5918200" cy="6604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Processus de fabrication de haute précision assurant consistance et efficacité pour nos produits.</a:t>
            </a:r>
          </a:p>
        </p:txBody>
      </p:sp>
      <p:sp>
        <p:nvSpPr>
          <p:cNvPr id="11" name="Rounded Rectangle 10"/>
          <p:cNvSpPr/>
          <p:nvPr/>
        </p:nvSpPr>
        <p:spPr>
          <a:xfrm>
            <a:off x="8534400" y="5372100"/>
            <a:ext cx="609600" cy="609600"/>
          </a:xfrm>
          <a:prstGeom prst="roundRect">
            <a:avLst>
              <a:gd name="adj" fmla="val 16666"/>
            </a:avLst>
          </a:prstGeom>
          <a:solidFill>
            <a:srgbClr val="9333EA"/>
          </a:solidFill>
          <a:ln>
            <a:noFill/>
          </a:ln>
          <a:effectLst>
            <a:outerShdw blurRad="76200" dir="5400000" dist="508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2" name="Picture 11" descr="36eb27a5-5f53-496a-a1dc-c823c575d93d.png"/>
          <p:cNvPicPr>
            <a:picLocks noChangeAspect="1"/>
          </p:cNvPicPr>
          <p:nvPr/>
        </p:nvPicPr>
        <p:blipFill>
          <a:blip r:embed="rId6"/>
          <a:stretch>
            <a:fillRect/>
          </a:stretch>
        </p:blipFill>
        <p:spPr>
          <a:xfrm>
            <a:off x="8686800" y="5537200"/>
            <a:ext cx="304800" cy="304800"/>
          </a:xfrm>
          <a:prstGeom prst="rect">
            <a:avLst/>
          </a:prstGeom>
        </p:spPr>
      </p:pic>
      <p:sp>
        <p:nvSpPr>
          <p:cNvPr id="13" name="TextBox 12"/>
          <p:cNvSpPr txBox="1"/>
          <p:nvPr/>
        </p:nvSpPr>
        <p:spPr>
          <a:xfrm>
            <a:off x="9347200" y="5372100"/>
            <a:ext cx="59182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Chaîne Intégrée</a:t>
            </a:r>
          </a:p>
        </p:txBody>
      </p:sp>
      <p:sp>
        <p:nvSpPr>
          <p:cNvPr id="14" name="Rounded Rectangle 13"/>
          <p:cNvSpPr/>
          <p:nvPr/>
        </p:nvSpPr>
        <p:spPr>
          <a:xfrm>
            <a:off x="9347200" y="5829300"/>
            <a:ext cx="609600" cy="25400"/>
          </a:xfrm>
          <a:prstGeom prst="roundRect">
            <a:avLst>
              <a:gd name="adj" fmla="val 2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5" name="TextBox 14"/>
          <p:cNvSpPr txBox="1"/>
          <p:nvPr/>
        </p:nvSpPr>
        <p:spPr>
          <a:xfrm>
            <a:off x="9347200" y="6007100"/>
            <a:ext cx="5918200" cy="6604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Intégration verticale complète, garantissant un contrôle qualité et une efficacité optimaux.</a:t>
            </a:r>
          </a:p>
        </p:txBody>
      </p:sp>
      <p:sp>
        <p:nvSpPr>
          <p:cNvPr id="16" name="Rounded Rectangle 15"/>
          <p:cNvSpPr/>
          <p:nvPr/>
        </p:nvSpPr>
        <p:spPr>
          <a:xfrm>
            <a:off x="8534400" y="6972300"/>
            <a:ext cx="609600" cy="609600"/>
          </a:xfrm>
          <a:prstGeom prst="roundRect">
            <a:avLst>
              <a:gd name="adj" fmla="val 16666"/>
            </a:avLst>
          </a:prstGeom>
          <a:solidFill>
            <a:srgbClr val="9333EA"/>
          </a:solidFill>
          <a:ln>
            <a:noFill/>
          </a:ln>
          <a:effectLst>
            <a:outerShdw blurRad="76200" dir="5400000" dist="508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7" name="Picture 16" descr="e6203848-5708-42bc-afc9-575ec260c689.png"/>
          <p:cNvPicPr>
            <a:picLocks noChangeAspect="1"/>
          </p:cNvPicPr>
          <p:nvPr/>
        </p:nvPicPr>
        <p:blipFill>
          <a:blip r:embed="rId7"/>
          <a:stretch>
            <a:fillRect/>
          </a:stretch>
        </p:blipFill>
        <p:spPr>
          <a:xfrm>
            <a:off x="8686800" y="7137400"/>
            <a:ext cx="304800" cy="304800"/>
          </a:xfrm>
          <a:prstGeom prst="rect">
            <a:avLst/>
          </a:prstGeom>
        </p:spPr>
      </p:pic>
      <p:sp>
        <p:nvSpPr>
          <p:cNvPr id="18" name="TextBox 17"/>
          <p:cNvSpPr txBox="1"/>
          <p:nvPr/>
        </p:nvSpPr>
        <p:spPr>
          <a:xfrm>
            <a:off x="9347200" y="6972300"/>
            <a:ext cx="59182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Technologie de Pointe</a:t>
            </a:r>
          </a:p>
        </p:txBody>
      </p:sp>
      <p:sp>
        <p:nvSpPr>
          <p:cNvPr id="19" name="Rounded Rectangle 18"/>
          <p:cNvSpPr/>
          <p:nvPr/>
        </p:nvSpPr>
        <p:spPr>
          <a:xfrm>
            <a:off x="9347200" y="7429500"/>
            <a:ext cx="609600" cy="25400"/>
          </a:xfrm>
          <a:prstGeom prst="roundRect">
            <a:avLst>
              <a:gd name="adj" fmla="val 2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0" name="TextBox 19"/>
          <p:cNvSpPr txBox="1"/>
          <p:nvPr/>
        </p:nvSpPr>
        <p:spPr>
          <a:xfrm>
            <a:off x="9347200" y="7607300"/>
            <a:ext cx="5918200" cy="6604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Utilisation de technologies avancées pour 10 gammes de produits fiables et durables.</a:t>
            </a:r>
          </a:p>
        </p:txBody>
      </p:sp>
      <p:sp>
        <p:nvSpPr>
          <p:cNvPr id="21" name="Rounded Rectangle 20"/>
          <p:cNvSpPr/>
          <p:nvPr/>
        </p:nvSpPr>
        <p:spPr>
          <a:xfrm>
            <a:off x="1524000" y="3225800"/>
            <a:ext cx="5689600" cy="4064000"/>
          </a:xfrm>
          <a:prstGeom prst="roundRect">
            <a:avLst>
              <a:gd name="adj" fmla="val 5000"/>
            </a:avLst>
          </a:prstGeom>
          <a:solidFill>
            <a:srgbClr val="FFFFFF"/>
          </a:solidFill>
          <a:ln>
            <a:noFill/>
          </a:ln>
          <a:effectLst>
            <a:outerShdw blurRad="190500" dir="5400000" dist="1270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22" name="Picture 21" descr="360ada56-125b-49e2-ac8a-1ca9d8c7b8bf.png"/>
          <p:cNvPicPr>
            <a:picLocks noChangeAspect="1"/>
          </p:cNvPicPr>
          <p:nvPr/>
        </p:nvPicPr>
        <p:blipFill>
          <a:blip r:embed="rId8"/>
          <a:stretch>
            <a:fillRect/>
          </a:stretch>
        </p:blipFill>
        <p:spPr>
          <a:xfrm>
            <a:off x="1524000" y="3225800"/>
            <a:ext cx="5689600" cy="4064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0cea6b02-029a-472d-975a-97abcc17cf6e.png"/>
          <p:cNvPicPr>
            <a:picLocks noChangeAspect="1"/>
          </p:cNvPicPr>
          <p:nvPr/>
        </p:nvPicPr>
        <p:blipFill>
          <a:blip r:embed="rId3"/>
          <a:stretch>
            <a:fillRect/>
          </a:stretch>
        </p:blipFill>
        <p:spPr>
          <a:xfrm>
            <a:off x="0" y="0"/>
            <a:ext cx="3251200" cy="9144000"/>
          </a:xfrm>
          <a:prstGeom prst="rect">
            <a:avLst/>
          </a:prstGeom>
        </p:spPr>
      </p:pic>
      <p:pic>
        <p:nvPicPr>
          <p:cNvPr id="3" name="Picture 2" descr="0cea6b02-029a-472d-975a-97abcc17cf6e.png"/>
          <p:cNvPicPr>
            <a:picLocks noChangeAspect="1"/>
          </p:cNvPicPr>
          <p:nvPr/>
        </p:nvPicPr>
        <p:blipFill>
          <a:blip r:embed="rId3"/>
          <a:stretch>
            <a:fillRect/>
          </a:stretch>
        </p:blipFill>
        <p:spPr>
          <a:xfrm>
            <a:off x="13004800" y="0"/>
            <a:ext cx="3251200" cy="9144000"/>
          </a:xfrm>
          <a:prstGeom prst="rect">
            <a:avLst/>
          </a:prstGeom>
        </p:spPr>
      </p:pic>
      <p:sp>
        <p:nvSpPr>
          <p:cNvPr id="4" name="TextBox 3"/>
          <p:cNvSpPr txBox="1"/>
          <p:nvPr/>
        </p:nvSpPr>
        <p:spPr>
          <a:xfrm>
            <a:off x="1016000" y="2616200"/>
            <a:ext cx="14249400" cy="762000"/>
          </a:xfrm>
          <a:prstGeom prst="rect">
            <a:avLst/>
          </a:prstGeom>
          <a:noFill/>
        </p:spPr>
        <p:txBody>
          <a:bodyPr wrap="square" lIns="0" rIns="0" tIns="0" bIns="0">
            <a:spAutoFit/>
          </a:bodyPr>
          <a:lstStyle/>
          <a:p>
            <a:pPr algn="ctr">
              <a:lnSpc>
                <a:spcPct val="70000"/>
              </a:lnSpc>
              <a:defRPr i="0" sz="6000" b="1">
                <a:solidFill>
                  <a:srgbClr val="111827"/>
                </a:solidFill>
                <a:latin typeface="Inter"/>
              </a:defRPr>
            </a:pPr>
            <a:r>
              <a:rPr i="0" sz="6000" b="1">
                <a:solidFill>
                  <a:srgbClr val="111827"/>
                </a:solidFill>
                <a:latin typeface="Inter"/>
              </a:rPr>
              <a:t>Modèle économique</a:t>
            </a:r>
          </a:p>
        </p:txBody>
      </p:sp>
      <p:sp>
        <p:nvSpPr>
          <p:cNvPr id="5" name="TextBox 4"/>
          <p:cNvSpPr txBox="1"/>
          <p:nvPr/>
        </p:nvSpPr>
        <p:spPr>
          <a:xfrm>
            <a:off x="1016000" y="3987800"/>
            <a:ext cx="6934200" cy="254000"/>
          </a:xfrm>
          <a:prstGeom prst="rect">
            <a:avLst/>
          </a:prstGeom>
          <a:noFill/>
        </p:spPr>
        <p:txBody>
          <a:bodyPr wrap="square" lIns="0" rIns="0" tIns="0" bIns="0">
            <a:spAutoFit/>
          </a:bodyPr>
          <a:lstStyle/>
          <a:p>
            <a:pPr algn="ctr">
              <a:defRPr i="0" sz="1400" b="0">
                <a:solidFill>
                  <a:srgbClr val="FFFFFF"/>
                </a:solidFill>
                <a:latin typeface="Inter"/>
              </a:defRPr>
            </a:pPr>
            <a:r>
              <a:rPr i="0" sz="1400" b="0">
                <a:solidFill>
                  <a:srgbClr val="FFFFFF"/>
                </a:solidFill>
                <a:latin typeface="Inter"/>
              </a:rPr>
              <a:t>CA Annuel Projeté</a:t>
            </a:r>
          </a:p>
        </p:txBody>
      </p:sp>
      <p:sp>
        <p:nvSpPr>
          <p:cNvPr id="6" name="TextBox 5"/>
          <p:cNvSpPr txBox="1"/>
          <p:nvPr/>
        </p:nvSpPr>
        <p:spPr>
          <a:xfrm>
            <a:off x="1016000" y="4445000"/>
            <a:ext cx="6934200" cy="762000"/>
          </a:xfrm>
          <a:prstGeom prst="rect">
            <a:avLst/>
          </a:prstGeom>
          <a:noFill/>
        </p:spPr>
        <p:txBody>
          <a:bodyPr wrap="square" lIns="0" rIns="0" tIns="0" bIns="0">
            <a:spAutoFit/>
          </a:bodyPr>
          <a:lstStyle/>
          <a:p>
            <a:pPr algn="ctr">
              <a:lnSpc>
                <a:spcPct val="70000"/>
              </a:lnSpc>
              <a:defRPr i="0" sz="6000" b="1">
                <a:solidFill>
                  <a:srgbClr val="9333EA"/>
                </a:solidFill>
                <a:latin typeface="Inter"/>
              </a:defRPr>
            </a:pPr>
            <a:r>
              <a:rPr i="0" sz="6000" b="1">
                <a:solidFill>
                  <a:srgbClr val="9333EA"/>
                </a:solidFill>
                <a:latin typeface="Inter"/>
              </a:rPr>
              <a:t>4.2 Md DZD</a:t>
            </a:r>
          </a:p>
        </p:txBody>
      </p:sp>
      <p:sp>
        <p:nvSpPr>
          <p:cNvPr id="7" name="Rounded Rectangle 6"/>
          <p:cNvSpPr/>
          <p:nvPr/>
        </p:nvSpPr>
        <p:spPr>
          <a:xfrm>
            <a:off x="1016000" y="5410200"/>
            <a:ext cx="6908800" cy="1016000"/>
          </a:xfrm>
          <a:prstGeom prst="roundRect">
            <a:avLst>
              <a:gd name="adj" fmla="val 1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TextBox 7"/>
          <p:cNvSpPr txBox="1"/>
          <p:nvPr/>
        </p:nvSpPr>
        <p:spPr>
          <a:xfrm>
            <a:off x="1270000" y="5664200"/>
            <a:ext cx="6426200" cy="508000"/>
          </a:xfrm>
          <a:prstGeom prst="rect">
            <a:avLst/>
          </a:prstGeom>
          <a:noFill/>
        </p:spPr>
        <p:txBody>
          <a:bodyPr wrap="square" lIns="0" rIns="0" tIns="0" bIns="0">
            <a:spAutoFit/>
          </a:bodyPr>
          <a:lstStyle/>
          <a:p>
            <a:pPr algn="ctr">
              <a:defRPr i="0" sz="1400" b="0">
                <a:solidFill>
                  <a:srgbClr val="FFFFFF"/>
                </a:solidFill>
                <a:latin typeface="Inter"/>
              </a:defRPr>
            </a:pPr>
            <a:r>
              <a:rPr i="0" sz="1400" b="0">
                <a:solidFill>
                  <a:srgbClr val="FFFFFF"/>
                </a:solidFill>
                <a:latin typeface="Inter"/>
              </a:rPr>
              <a:t>Revenu total annuel attendu, basé sur des prévisions de ventes B2B directes et des contrats industriels stratégiques.</a:t>
            </a:r>
          </a:p>
        </p:txBody>
      </p:sp>
      <p:sp>
        <p:nvSpPr>
          <p:cNvPr id="9" name="TextBox 8"/>
          <p:cNvSpPr txBox="1"/>
          <p:nvPr/>
        </p:nvSpPr>
        <p:spPr>
          <a:xfrm>
            <a:off x="8331200" y="3987800"/>
            <a:ext cx="6934200" cy="254000"/>
          </a:xfrm>
          <a:prstGeom prst="rect">
            <a:avLst/>
          </a:prstGeom>
          <a:noFill/>
        </p:spPr>
        <p:txBody>
          <a:bodyPr wrap="square" lIns="0" rIns="0" tIns="0" bIns="0">
            <a:spAutoFit/>
          </a:bodyPr>
          <a:lstStyle/>
          <a:p>
            <a:pPr algn="ctr">
              <a:defRPr i="0" sz="1400" b="0">
                <a:solidFill>
                  <a:srgbClr val="FFFFFF"/>
                </a:solidFill>
                <a:latin typeface="Inter"/>
              </a:defRPr>
            </a:pPr>
            <a:r>
              <a:rPr i="0" sz="1400" b="0">
                <a:solidFill>
                  <a:srgbClr val="FFFFFF"/>
                </a:solidFill>
                <a:latin typeface="Inter"/>
              </a:rPr>
              <a:t>MRR Projeté</a:t>
            </a:r>
          </a:p>
        </p:txBody>
      </p:sp>
      <p:sp>
        <p:nvSpPr>
          <p:cNvPr id="10" name="TextBox 9"/>
          <p:cNvSpPr txBox="1"/>
          <p:nvPr/>
        </p:nvSpPr>
        <p:spPr>
          <a:xfrm>
            <a:off x="8331200" y="4445000"/>
            <a:ext cx="6934200" cy="762000"/>
          </a:xfrm>
          <a:prstGeom prst="rect">
            <a:avLst/>
          </a:prstGeom>
          <a:noFill/>
        </p:spPr>
        <p:txBody>
          <a:bodyPr wrap="square" lIns="0" rIns="0" tIns="0" bIns="0">
            <a:spAutoFit/>
          </a:bodyPr>
          <a:lstStyle/>
          <a:p>
            <a:pPr algn="ctr">
              <a:lnSpc>
                <a:spcPct val="70000"/>
              </a:lnSpc>
              <a:defRPr i="0" sz="6000" b="1">
                <a:solidFill>
                  <a:srgbClr val="9333EA"/>
                </a:solidFill>
                <a:latin typeface="Inter"/>
              </a:defRPr>
            </a:pPr>
            <a:r>
              <a:rPr i="0" sz="6000" b="1">
                <a:solidFill>
                  <a:srgbClr val="9333EA"/>
                </a:solidFill>
                <a:latin typeface="Inter"/>
              </a:rPr>
              <a:t>350.2M DZD</a:t>
            </a:r>
          </a:p>
        </p:txBody>
      </p:sp>
      <p:sp>
        <p:nvSpPr>
          <p:cNvPr id="11" name="Rounded Rectangle 10"/>
          <p:cNvSpPr/>
          <p:nvPr/>
        </p:nvSpPr>
        <p:spPr>
          <a:xfrm>
            <a:off x="8331200" y="5410200"/>
            <a:ext cx="6908800" cy="1016000"/>
          </a:xfrm>
          <a:prstGeom prst="roundRect">
            <a:avLst>
              <a:gd name="adj" fmla="val 1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TextBox 11"/>
          <p:cNvSpPr txBox="1"/>
          <p:nvPr/>
        </p:nvSpPr>
        <p:spPr>
          <a:xfrm>
            <a:off x="8585200" y="5664200"/>
            <a:ext cx="6426200" cy="508000"/>
          </a:xfrm>
          <a:prstGeom prst="rect">
            <a:avLst/>
          </a:prstGeom>
          <a:noFill/>
        </p:spPr>
        <p:txBody>
          <a:bodyPr wrap="square" lIns="0" rIns="0" tIns="0" bIns="0">
            <a:spAutoFit/>
          </a:bodyPr>
          <a:lstStyle/>
          <a:p>
            <a:pPr algn="ctr">
              <a:defRPr i="0" sz="1400" b="0">
                <a:solidFill>
                  <a:srgbClr val="FFFFFF"/>
                </a:solidFill>
                <a:latin typeface="Inter"/>
              </a:defRPr>
            </a:pPr>
            <a:r>
              <a:rPr i="0" sz="1400" b="0">
                <a:solidFill>
                  <a:srgbClr val="FFFFFF"/>
                </a:solidFill>
                <a:latin typeface="Inter"/>
              </a:rPr>
              <a:t>Revenu stable et prévisible généré chaque mois, assurant une forte rentabilité et une base financière solide.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16000" y="609600"/>
            <a:ext cx="14249400" cy="762000"/>
          </a:xfrm>
          <a:prstGeom prst="rect">
            <a:avLst/>
          </a:prstGeom>
          <a:noFill/>
        </p:spPr>
        <p:txBody>
          <a:bodyPr wrap="square" lIns="0" rIns="0" tIns="0" bIns="0">
            <a:spAutoFit/>
          </a:bodyPr>
          <a:lstStyle/>
          <a:p>
            <a:pPr algn="l">
              <a:lnSpc>
                <a:spcPct val="70000"/>
              </a:lnSpc>
              <a:defRPr i="0" sz="6000" b="1">
                <a:solidFill>
                  <a:srgbClr val="111827"/>
                </a:solidFill>
                <a:latin typeface="Inter"/>
              </a:defRPr>
            </a:pPr>
            <a:r>
              <a:rPr i="0" sz="6000" b="1">
                <a:solidFill>
                  <a:srgbClr val="111827"/>
                </a:solidFill>
                <a:latin typeface="Inter"/>
              </a:rPr>
              <a:t>Le Produit</a:t>
            </a:r>
          </a:p>
        </p:txBody>
      </p:sp>
      <p:pic>
        <p:nvPicPr>
          <p:cNvPr id="3" name="Picture 2" descr="3a9e7bb3-d928-40e9-96fe-26e54aea2e43.png"/>
          <p:cNvPicPr>
            <a:picLocks noChangeAspect="1"/>
          </p:cNvPicPr>
          <p:nvPr/>
        </p:nvPicPr>
        <p:blipFill>
          <a:blip r:embed="rId3"/>
          <a:stretch>
            <a:fillRect/>
          </a:stretch>
        </p:blipFill>
        <p:spPr>
          <a:xfrm>
            <a:off x="1016000" y="1778000"/>
            <a:ext cx="6705600" cy="6959600"/>
          </a:xfrm>
          <a:prstGeom prst="rect">
            <a:avLst/>
          </a:prstGeom>
        </p:spPr>
      </p:pic>
      <p:pic>
        <p:nvPicPr>
          <p:cNvPr id="4" name="Picture 3" descr="93ff1d44-9525-4beb-8f72-34fb30ce3583.png"/>
          <p:cNvPicPr>
            <a:picLocks noChangeAspect="1"/>
          </p:cNvPicPr>
          <p:nvPr/>
        </p:nvPicPr>
        <p:blipFill>
          <a:blip r:embed="rId4"/>
          <a:stretch>
            <a:fillRect/>
          </a:stretch>
        </p:blipFill>
        <p:spPr>
          <a:xfrm>
            <a:off x="7010400" y="2794000"/>
            <a:ext cx="304800" cy="304800"/>
          </a:xfrm>
          <a:prstGeom prst="rect">
            <a:avLst/>
          </a:prstGeom>
        </p:spPr>
      </p:pic>
      <p:sp>
        <p:nvSpPr>
          <p:cNvPr id="5" name="TextBox 4"/>
          <p:cNvSpPr txBox="1"/>
          <p:nvPr/>
        </p:nvSpPr>
        <p:spPr>
          <a:xfrm>
            <a:off x="8534400" y="2247900"/>
            <a:ext cx="6731000" cy="1117600"/>
          </a:xfrm>
          <a:prstGeom prst="rect">
            <a:avLst/>
          </a:prstGeom>
          <a:noFill/>
        </p:spPr>
        <p:txBody>
          <a:bodyPr wrap="square" lIns="0" rIns="0" tIns="0" bIns="0">
            <a:spAutoFit/>
          </a:bodyPr>
          <a:lstStyle/>
          <a:p>
            <a:pPr algn="l">
              <a:lnSpc>
                <a:spcPct val="133000"/>
              </a:lnSpc>
              <a:defRPr i="0" sz="1800" b="0">
                <a:solidFill>
                  <a:srgbClr val="4B5563"/>
                </a:solidFill>
                <a:latin typeface="Inter"/>
              </a:defRPr>
            </a:pPr>
            <a:r>
              <a:rPr i="0" sz="1800" b="0">
                <a:solidFill>
                  <a:srgbClr val="4B5563"/>
                </a:solidFill>
                <a:latin typeface="Inter"/>
              </a:rPr>
              <a:t>Notre produit s'appuie sur des standards de qualité élevés, une production efficace et une équipe experte pour répondre à une demande forte du marché.</a:t>
            </a:r>
          </a:p>
        </p:txBody>
      </p:sp>
      <p:sp>
        <p:nvSpPr>
          <p:cNvPr id="6" name="Rounded Rectangle 5"/>
          <p:cNvSpPr/>
          <p:nvPr/>
        </p:nvSpPr>
        <p:spPr>
          <a:xfrm>
            <a:off x="8534400" y="3771900"/>
            <a:ext cx="609600" cy="609600"/>
          </a:xfrm>
          <a:prstGeom prst="roundRect">
            <a:avLst>
              <a:gd name="adj" fmla="val 16666"/>
            </a:avLst>
          </a:prstGeom>
          <a:solidFill>
            <a:srgbClr val="9333EA"/>
          </a:solidFill>
          <a:ln>
            <a:noFill/>
          </a:ln>
          <a:effectLst>
            <a:outerShdw blurRad="76200" dir="5400000" dist="508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7" name="Picture 6" descr="3bed799e-97d8-4878-9d7a-11e4e1e1d58f.png"/>
          <p:cNvPicPr>
            <a:picLocks noChangeAspect="1"/>
          </p:cNvPicPr>
          <p:nvPr/>
        </p:nvPicPr>
        <p:blipFill>
          <a:blip r:embed="rId5"/>
          <a:stretch>
            <a:fillRect/>
          </a:stretch>
        </p:blipFill>
        <p:spPr>
          <a:xfrm>
            <a:off x="8686800" y="3937000"/>
            <a:ext cx="304800" cy="304800"/>
          </a:xfrm>
          <a:prstGeom prst="rect">
            <a:avLst/>
          </a:prstGeom>
        </p:spPr>
      </p:pic>
      <p:sp>
        <p:nvSpPr>
          <p:cNvPr id="8" name="TextBox 7"/>
          <p:cNvSpPr txBox="1"/>
          <p:nvPr/>
        </p:nvSpPr>
        <p:spPr>
          <a:xfrm>
            <a:off x="9347200" y="3771900"/>
            <a:ext cx="59182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Standards de Qualité</a:t>
            </a:r>
          </a:p>
        </p:txBody>
      </p:sp>
      <p:sp>
        <p:nvSpPr>
          <p:cNvPr id="9" name="Rounded Rectangle 8"/>
          <p:cNvSpPr/>
          <p:nvPr/>
        </p:nvSpPr>
        <p:spPr>
          <a:xfrm>
            <a:off x="9347200" y="4229100"/>
            <a:ext cx="609600" cy="25400"/>
          </a:xfrm>
          <a:prstGeom prst="roundRect">
            <a:avLst>
              <a:gd name="adj" fmla="val 2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9347200" y="4406900"/>
            <a:ext cx="5918200" cy="6604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Certifications ISO 9001 et ISO 14001 assurent qualité et gestion environnementale rigoureuses.</a:t>
            </a:r>
          </a:p>
        </p:txBody>
      </p:sp>
      <p:sp>
        <p:nvSpPr>
          <p:cNvPr id="11" name="Rounded Rectangle 10"/>
          <p:cNvSpPr/>
          <p:nvPr/>
        </p:nvSpPr>
        <p:spPr>
          <a:xfrm>
            <a:off x="8534400" y="5372100"/>
            <a:ext cx="609600" cy="609600"/>
          </a:xfrm>
          <a:prstGeom prst="roundRect">
            <a:avLst>
              <a:gd name="adj" fmla="val 16666"/>
            </a:avLst>
          </a:prstGeom>
          <a:solidFill>
            <a:srgbClr val="9333EA"/>
          </a:solidFill>
          <a:ln>
            <a:noFill/>
          </a:ln>
          <a:effectLst>
            <a:outerShdw blurRad="76200" dir="5400000" dist="508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2" name="Picture 11" descr="73b274d0-3a78-42b2-8081-e5868098d60f.png"/>
          <p:cNvPicPr>
            <a:picLocks noChangeAspect="1"/>
          </p:cNvPicPr>
          <p:nvPr/>
        </p:nvPicPr>
        <p:blipFill>
          <a:blip r:embed="rId6"/>
          <a:stretch>
            <a:fillRect/>
          </a:stretch>
        </p:blipFill>
        <p:spPr>
          <a:xfrm>
            <a:off x="8686800" y="5537200"/>
            <a:ext cx="304800" cy="304800"/>
          </a:xfrm>
          <a:prstGeom prst="rect">
            <a:avLst/>
          </a:prstGeom>
        </p:spPr>
      </p:pic>
      <p:sp>
        <p:nvSpPr>
          <p:cNvPr id="13" name="TextBox 12"/>
          <p:cNvSpPr txBox="1"/>
          <p:nvPr/>
        </p:nvSpPr>
        <p:spPr>
          <a:xfrm>
            <a:off x="9347200" y="5372100"/>
            <a:ext cx="59182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Capacité de Production</a:t>
            </a:r>
          </a:p>
        </p:txBody>
      </p:sp>
      <p:sp>
        <p:nvSpPr>
          <p:cNvPr id="14" name="Rounded Rectangle 13"/>
          <p:cNvSpPr/>
          <p:nvPr/>
        </p:nvSpPr>
        <p:spPr>
          <a:xfrm>
            <a:off x="9347200" y="5829300"/>
            <a:ext cx="609600" cy="25400"/>
          </a:xfrm>
          <a:prstGeom prst="roundRect">
            <a:avLst>
              <a:gd name="adj" fmla="val 2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5" name="TextBox 14"/>
          <p:cNvSpPr txBox="1"/>
          <p:nvPr/>
        </p:nvSpPr>
        <p:spPr>
          <a:xfrm>
            <a:off x="9347200" y="6007100"/>
            <a:ext cx="5918200" cy="6604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Lancement initial de 10 gammes de produits avec des machines performantes et modernes.</a:t>
            </a:r>
          </a:p>
        </p:txBody>
      </p:sp>
      <p:sp>
        <p:nvSpPr>
          <p:cNvPr id="16" name="Rounded Rectangle 15"/>
          <p:cNvSpPr/>
          <p:nvPr/>
        </p:nvSpPr>
        <p:spPr>
          <a:xfrm>
            <a:off x="8534400" y="6972300"/>
            <a:ext cx="609600" cy="609600"/>
          </a:xfrm>
          <a:prstGeom prst="roundRect">
            <a:avLst>
              <a:gd name="adj" fmla="val 16666"/>
            </a:avLst>
          </a:prstGeom>
          <a:solidFill>
            <a:srgbClr val="9333EA"/>
          </a:solidFill>
          <a:ln>
            <a:noFill/>
          </a:ln>
          <a:effectLst>
            <a:outerShdw blurRad="76200" dir="5400000" dist="508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7" name="Picture 16" descr="0fcd7887-185e-45d6-994e-92b5187195df.png"/>
          <p:cNvPicPr>
            <a:picLocks noChangeAspect="1"/>
          </p:cNvPicPr>
          <p:nvPr/>
        </p:nvPicPr>
        <p:blipFill>
          <a:blip r:embed="rId7"/>
          <a:stretch>
            <a:fillRect/>
          </a:stretch>
        </p:blipFill>
        <p:spPr>
          <a:xfrm>
            <a:off x="8686800" y="7137400"/>
            <a:ext cx="304800" cy="304800"/>
          </a:xfrm>
          <a:prstGeom prst="rect">
            <a:avLst/>
          </a:prstGeom>
        </p:spPr>
      </p:pic>
      <p:sp>
        <p:nvSpPr>
          <p:cNvPr id="18" name="TextBox 17"/>
          <p:cNvSpPr txBox="1"/>
          <p:nvPr/>
        </p:nvSpPr>
        <p:spPr>
          <a:xfrm>
            <a:off x="9347200" y="6972300"/>
            <a:ext cx="59182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Équipe et Marché</a:t>
            </a:r>
          </a:p>
        </p:txBody>
      </p:sp>
      <p:sp>
        <p:nvSpPr>
          <p:cNvPr id="19" name="Rounded Rectangle 18"/>
          <p:cNvSpPr/>
          <p:nvPr/>
        </p:nvSpPr>
        <p:spPr>
          <a:xfrm>
            <a:off x="9347200" y="7429500"/>
            <a:ext cx="609600" cy="25400"/>
          </a:xfrm>
          <a:prstGeom prst="roundRect">
            <a:avLst>
              <a:gd name="adj" fmla="val 2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0" name="TextBox 19"/>
          <p:cNvSpPr txBox="1"/>
          <p:nvPr/>
        </p:nvSpPr>
        <p:spPr>
          <a:xfrm>
            <a:off x="9347200" y="7607300"/>
            <a:ext cx="5918200" cy="6604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Une équipe expérimentée est prête à capitaliser sur la forte demande du marché actuel.</a:t>
            </a:r>
          </a:p>
        </p:txBody>
      </p:sp>
      <p:sp>
        <p:nvSpPr>
          <p:cNvPr id="21" name="Rounded Rectangle 20"/>
          <p:cNvSpPr/>
          <p:nvPr/>
        </p:nvSpPr>
        <p:spPr>
          <a:xfrm>
            <a:off x="1524000" y="3225800"/>
            <a:ext cx="5689600" cy="4064000"/>
          </a:xfrm>
          <a:prstGeom prst="roundRect">
            <a:avLst>
              <a:gd name="adj" fmla="val 5000"/>
            </a:avLst>
          </a:prstGeom>
          <a:solidFill>
            <a:srgbClr val="FFFFFF"/>
          </a:solidFill>
          <a:ln>
            <a:noFill/>
          </a:ln>
          <a:effectLst>
            <a:outerShdw blurRad="190500" dir="5400000" dist="1270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22" name="Picture 21" descr="bfca6bf9-60df-4bef-8277-5f6903bff220.png"/>
          <p:cNvPicPr>
            <a:picLocks noChangeAspect="1"/>
          </p:cNvPicPr>
          <p:nvPr/>
        </p:nvPicPr>
        <p:blipFill>
          <a:blip r:embed="rId8"/>
          <a:stretch>
            <a:fillRect/>
          </a:stretch>
        </p:blipFill>
        <p:spPr>
          <a:xfrm>
            <a:off x="1524000" y="3225800"/>
            <a:ext cx="5689600" cy="4064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16000" y="609600"/>
            <a:ext cx="14249400" cy="762000"/>
          </a:xfrm>
          <a:prstGeom prst="rect">
            <a:avLst/>
          </a:prstGeom>
          <a:noFill/>
        </p:spPr>
        <p:txBody>
          <a:bodyPr wrap="square" lIns="0" rIns="0" tIns="0" bIns="0">
            <a:spAutoFit/>
          </a:bodyPr>
          <a:lstStyle/>
          <a:p>
            <a:pPr algn="l">
              <a:lnSpc>
                <a:spcPct val="70000"/>
              </a:lnSpc>
              <a:defRPr i="0" sz="6000" b="1">
                <a:solidFill>
                  <a:srgbClr val="111827"/>
                </a:solidFill>
                <a:latin typeface="Inter"/>
              </a:defRPr>
            </a:pPr>
            <a:r>
              <a:rPr i="0" sz="6000" b="1">
                <a:solidFill>
                  <a:srgbClr val="111827"/>
                </a:solidFill>
                <a:latin typeface="Inter"/>
              </a:rPr>
              <a:t>Stratégie Commerciale</a:t>
            </a:r>
          </a:p>
        </p:txBody>
      </p:sp>
      <p:pic>
        <p:nvPicPr>
          <p:cNvPr id="3" name="Picture 2" descr="3a9e7bb3-d928-40e9-96fe-26e54aea2e43.png"/>
          <p:cNvPicPr>
            <a:picLocks noChangeAspect="1"/>
          </p:cNvPicPr>
          <p:nvPr/>
        </p:nvPicPr>
        <p:blipFill>
          <a:blip r:embed="rId3"/>
          <a:stretch>
            <a:fillRect/>
          </a:stretch>
        </p:blipFill>
        <p:spPr>
          <a:xfrm>
            <a:off x="1016000" y="1778000"/>
            <a:ext cx="6705600" cy="6959600"/>
          </a:xfrm>
          <a:prstGeom prst="rect">
            <a:avLst/>
          </a:prstGeom>
        </p:spPr>
      </p:pic>
      <p:pic>
        <p:nvPicPr>
          <p:cNvPr id="4" name="Picture 3" descr="93ff1d44-9525-4beb-8f72-34fb30ce3583.png"/>
          <p:cNvPicPr>
            <a:picLocks noChangeAspect="1"/>
          </p:cNvPicPr>
          <p:nvPr/>
        </p:nvPicPr>
        <p:blipFill>
          <a:blip r:embed="rId4"/>
          <a:stretch>
            <a:fillRect/>
          </a:stretch>
        </p:blipFill>
        <p:spPr>
          <a:xfrm>
            <a:off x="7010400" y="2794000"/>
            <a:ext cx="304800" cy="304800"/>
          </a:xfrm>
          <a:prstGeom prst="rect">
            <a:avLst/>
          </a:prstGeom>
        </p:spPr>
      </p:pic>
      <p:sp>
        <p:nvSpPr>
          <p:cNvPr id="5" name="TextBox 4"/>
          <p:cNvSpPr txBox="1"/>
          <p:nvPr/>
        </p:nvSpPr>
        <p:spPr>
          <a:xfrm>
            <a:off x="8534400" y="2247900"/>
            <a:ext cx="6731000" cy="1117600"/>
          </a:xfrm>
          <a:prstGeom prst="rect">
            <a:avLst/>
          </a:prstGeom>
          <a:noFill/>
        </p:spPr>
        <p:txBody>
          <a:bodyPr wrap="square" lIns="0" rIns="0" tIns="0" bIns="0">
            <a:spAutoFit/>
          </a:bodyPr>
          <a:lstStyle/>
          <a:p>
            <a:pPr algn="l">
              <a:lnSpc>
                <a:spcPct val="133000"/>
              </a:lnSpc>
              <a:defRPr i="0" sz="1800" b="0">
                <a:solidFill>
                  <a:srgbClr val="4B5563"/>
                </a:solidFill>
                <a:latin typeface="Inter"/>
              </a:defRPr>
            </a:pPr>
            <a:r>
              <a:rPr i="0" sz="1800" b="0">
                <a:solidFill>
                  <a:srgbClr val="4B5563"/>
                </a:solidFill>
                <a:latin typeface="Inter"/>
              </a:rPr>
              <a:t>Mise en œuvre d'une approche commerciale B2B ciblée et efficace, axée sur les ventes directes et la présence aux salons pour une croissance rapide.</a:t>
            </a:r>
          </a:p>
        </p:txBody>
      </p:sp>
      <p:sp>
        <p:nvSpPr>
          <p:cNvPr id="6" name="Rounded Rectangle 5"/>
          <p:cNvSpPr/>
          <p:nvPr/>
        </p:nvSpPr>
        <p:spPr>
          <a:xfrm>
            <a:off x="8534400" y="3771900"/>
            <a:ext cx="609600" cy="609600"/>
          </a:xfrm>
          <a:prstGeom prst="roundRect">
            <a:avLst>
              <a:gd name="adj" fmla="val 16666"/>
            </a:avLst>
          </a:prstGeom>
          <a:solidFill>
            <a:srgbClr val="9333EA"/>
          </a:solidFill>
          <a:ln>
            <a:noFill/>
          </a:ln>
          <a:effectLst>
            <a:outerShdw blurRad="76200" dir="5400000" dist="508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7" name="Picture 6" descr="c6300785-35fe-4828-9a14-69cdb129863a.png"/>
          <p:cNvPicPr>
            <a:picLocks noChangeAspect="1"/>
          </p:cNvPicPr>
          <p:nvPr/>
        </p:nvPicPr>
        <p:blipFill>
          <a:blip r:embed="rId5"/>
          <a:stretch>
            <a:fillRect/>
          </a:stretch>
        </p:blipFill>
        <p:spPr>
          <a:xfrm>
            <a:off x="8686800" y="3937000"/>
            <a:ext cx="304800" cy="304800"/>
          </a:xfrm>
          <a:prstGeom prst="rect">
            <a:avLst/>
          </a:prstGeom>
        </p:spPr>
      </p:pic>
      <p:sp>
        <p:nvSpPr>
          <p:cNvPr id="8" name="TextBox 7"/>
          <p:cNvSpPr txBox="1"/>
          <p:nvPr/>
        </p:nvSpPr>
        <p:spPr>
          <a:xfrm>
            <a:off x="9347200" y="3771900"/>
            <a:ext cx="59182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Ventes Directes &amp; Salons</a:t>
            </a:r>
          </a:p>
        </p:txBody>
      </p:sp>
      <p:sp>
        <p:nvSpPr>
          <p:cNvPr id="9" name="Rounded Rectangle 8"/>
          <p:cNvSpPr/>
          <p:nvPr/>
        </p:nvSpPr>
        <p:spPr>
          <a:xfrm>
            <a:off x="9347200" y="4229100"/>
            <a:ext cx="609600" cy="25400"/>
          </a:xfrm>
          <a:prstGeom prst="roundRect">
            <a:avLst>
              <a:gd name="adj" fmla="val 2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9347200" y="4406900"/>
            <a:ext cx="5918200" cy="6604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Approche directe des industriels et participation active aux salons professionnels clés pour générer des leads qualifiés.</a:t>
            </a:r>
          </a:p>
        </p:txBody>
      </p:sp>
      <p:sp>
        <p:nvSpPr>
          <p:cNvPr id="11" name="Rounded Rectangle 10"/>
          <p:cNvSpPr/>
          <p:nvPr/>
        </p:nvSpPr>
        <p:spPr>
          <a:xfrm>
            <a:off x="8534400" y="5372100"/>
            <a:ext cx="609600" cy="609600"/>
          </a:xfrm>
          <a:prstGeom prst="roundRect">
            <a:avLst>
              <a:gd name="adj" fmla="val 16666"/>
            </a:avLst>
          </a:prstGeom>
          <a:solidFill>
            <a:srgbClr val="9333EA"/>
          </a:solidFill>
          <a:ln>
            <a:noFill/>
          </a:ln>
          <a:effectLst>
            <a:outerShdw blurRad="76200" dir="5400000" dist="508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2" name="Picture 11" descr="73b274d0-3a78-42b2-8081-e5868098d60f.png"/>
          <p:cNvPicPr>
            <a:picLocks noChangeAspect="1"/>
          </p:cNvPicPr>
          <p:nvPr/>
        </p:nvPicPr>
        <p:blipFill>
          <a:blip r:embed="rId6"/>
          <a:stretch>
            <a:fillRect/>
          </a:stretch>
        </p:blipFill>
        <p:spPr>
          <a:xfrm>
            <a:off x="8686800" y="5537200"/>
            <a:ext cx="304800" cy="304800"/>
          </a:xfrm>
          <a:prstGeom prst="rect">
            <a:avLst/>
          </a:prstGeom>
        </p:spPr>
      </p:pic>
      <p:sp>
        <p:nvSpPr>
          <p:cNvPr id="13" name="TextBox 12"/>
          <p:cNvSpPr txBox="1"/>
          <p:nvPr/>
        </p:nvSpPr>
        <p:spPr>
          <a:xfrm>
            <a:off x="9347200" y="5372100"/>
            <a:ext cx="59182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Production Locale &amp; Livraison</a:t>
            </a:r>
          </a:p>
        </p:txBody>
      </p:sp>
      <p:sp>
        <p:nvSpPr>
          <p:cNvPr id="14" name="Rounded Rectangle 13"/>
          <p:cNvSpPr/>
          <p:nvPr/>
        </p:nvSpPr>
        <p:spPr>
          <a:xfrm>
            <a:off x="9347200" y="5829300"/>
            <a:ext cx="609600" cy="25400"/>
          </a:xfrm>
          <a:prstGeom prst="roundRect">
            <a:avLst>
              <a:gd name="adj" fmla="val 2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5" name="TextBox 14"/>
          <p:cNvSpPr txBox="1"/>
          <p:nvPr/>
        </p:nvSpPr>
        <p:spPr>
          <a:xfrm>
            <a:off x="9347200" y="6007100"/>
            <a:ext cx="5918200" cy="6604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Production locale efficace garantissant une livraison nationale rapide et fiable sous 2 semaines.</a:t>
            </a:r>
          </a:p>
        </p:txBody>
      </p:sp>
      <p:sp>
        <p:nvSpPr>
          <p:cNvPr id="16" name="Rounded Rectangle 15"/>
          <p:cNvSpPr/>
          <p:nvPr/>
        </p:nvSpPr>
        <p:spPr>
          <a:xfrm>
            <a:off x="8534400" y="6972300"/>
            <a:ext cx="609600" cy="609600"/>
          </a:xfrm>
          <a:prstGeom prst="roundRect">
            <a:avLst>
              <a:gd name="adj" fmla="val 16666"/>
            </a:avLst>
          </a:prstGeom>
          <a:solidFill>
            <a:srgbClr val="9333EA"/>
          </a:solidFill>
          <a:ln>
            <a:noFill/>
          </a:ln>
          <a:effectLst>
            <a:outerShdw blurRad="76200" dir="5400000" dist="508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7" name="Picture 16" descr="c6300785-35fe-4828-9a14-69cdb129863a.png"/>
          <p:cNvPicPr>
            <a:picLocks noChangeAspect="1"/>
          </p:cNvPicPr>
          <p:nvPr/>
        </p:nvPicPr>
        <p:blipFill>
          <a:blip r:embed="rId5"/>
          <a:stretch>
            <a:fillRect/>
          </a:stretch>
        </p:blipFill>
        <p:spPr>
          <a:xfrm>
            <a:off x="8686800" y="7137400"/>
            <a:ext cx="304800" cy="304800"/>
          </a:xfrm>
          <a:prstGeom prst="rect">
            <a:avLst/>
          </a:prstGeom>
        </p:spPr>
      </p:pic>
      <p:sp>
        <p:nvSpPr>
          <p:cNvPr id="18" name="TextBox 17"/>
          <p:cNvSpPr txBox="1"/>
          <p:nvPr/>
        </p:nvSpPr>
        <p:spPr>
          <a:xfrm>
            <a:off x="9347200" y="6972300"/>
            <a:ext cx="59182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Cycle de Vente B2B Optimisé</a:t>
            </a:r>
          </a:p>
        </p:txBody>
      </p:sp>
      <p:sp>
        <p:nvSpPr>
          <p:cNvPr id="19" name="Rounded Rectangle 18"/>
          <p:cNvSpPr/>
          <p:nvPr/>
        </p:nvSpPr>
        <p:spPr>
          <a:xfrm>
            <a:off x="9347200" y="7429500"/>
            <a:ext cx="609600" cy="25400"/>
          </a:xfrm>
          <a:prstGeom prst="roundRect">
            <a:avLst>
              <a:gd name="adj" fmla="val 2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0" name="TextBox 19"/>
          <p:cNvSpPr txBox="1"/>
          <p:nvPr/>
        </p:nvSpPr>
        <p:spPr>
          <a:xfrm>
            <a:off x="9347200" y="7607300"/>
            <a:ext cx="5918200" cy="6604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Cycle de vente B2B généralement de 2 à 4 mois, maximisant l'efficacité des transactions et la satisfaction client.</a:t>
            </a:r>
          </a:p>
        </p:txBody>
      </p:sp>
      <p:sp>
        <p:nvSpPr>
          <p:cNvPr id="21" name="Rounded Rectangle 20"/>
          <p:cNvSpPr/>
          <p:nvPr/>
        </p:nvSpPr>
        <p:spPr>
          <a:xfrm>
            <a:off x="1524000" y="3225800"/>
            <a:ext cx="5689600" cy="4064000"/>
          </a:xfrm>
          <a:prstGeom prst="roundRect">
            <a:avLst>
              <a:gd name="adj" fmla="val 5000"/>
            </a:avLst>
          </a:prstGeom>
          <a:solidFill>
            <a:srgbClr val="FFFFFF"/>
          </a:solidFill>
          <a:ln>
            <a:noFill/>
          </a:ln>
          <a:effectLst>
            <a:outerShdw blurRad="190500" dir="5400000" dist="1270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22" name="Picture 21" descr="47a6c59d-ed14-4782-9d81-dfbed16e7f92.png"/>
          <p:cNvPicPr>
            <a:picLocks noChangeAspect="1"/>
          </p:cNvPicPr>
          <p:nvPr/>
        </p:nvPicPr>
        <p:blipFill>
          <a:blip r:embed="rId7"/>
          <a:stretch>
            <a:fillRect/>
          </a:stretch>
        </p:blipFill>
        <p:spPr>
          <a:xfrm>
            <a:off x="1524000" y="3225800"/>
            <a:ext cx="5689600" cy="4064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16000" y="609600"/>
            <a:ext cx="14249400" cy="762000"/>
          </a:xfrm>
          <a:prstGeom prst="rect">
            <a:avLst/>
          </a:prstGeom>
          <a:noFill/>
        </p:spPr>
        <p:txBody>
          <a:bodyPr wrap="square" lIns="0" rIns="0" tIns="0" bIns="0">
            <a:spAutoFit/>
          </a:bodyPr>
          <a:lstStyle/>
          <a:p>
            <a:pPr algn="l">
              <a:lnSpc>
                <a:spcPct val="70000"/>
              </a:lnSpc>
              <a:defRPr i="0" sz="6000" b="1">
                <a:solidFill>
                  <a:srgbClr val="111827"/>
                </a:solidFill>
                <a:latin typeface="Inter"/>
              </a:defRPr>
            </a:pPr>
            <a:r>
              <a:rPr i="0" sz="6000" b="1">
                <a:solidFill>
                  <a:srgbClr val="111827"/>
                </a:solidFill>
                <a:latin typeface="Inter"/>
              </a:rPr>
              <a:t>Concurrence</a:t>
            </a:r>
          </a:p>
        </p:txBody>
      </p:sp>
      <p:pic>
        <p:nvPicPr>
          <p:cNvPr id="3" name="Picture 2" descr="3a9e7bb3-d928-40e9-96fe-26e54aea2e43.png"/>
          <p:cNvPicPr>
            <a:picLocks noChangeAspect="1"/>
          </p:cNvPicPr>
          <p:nvPr/>
        </p:nvPicPr>
        <p:blipFill>
          <a:blip r:embed="rId3"/>
          <a:stretch>
            <a:fillRect/>
          </a:stretch>
        </p:blipFill>
        <p:spPr>
          <a:xfrm>
            <a:off x="1016000" y="1778000"/>
            <a:ext cx="6705600" cy="6959600"/>
          </a:xfrm>
          <a:prstGeom prst="rect">
            <a:avLst/>
          </a:prstGeom>
        </p:spPr>
      </p:pic>
      <p:pic>
        <p:nvPicPr>
          <p:cNvPr id="4" name="Picture 3" descr="93ff1d44-9525-4beb-8f72-34fb30ce3583.png"/>
          <p:cNvPicPr>
            <a:picLocks noChangeAspect="1"/>
          </p:cNvPicPr>
          <p:nvPr/>
        </p:nvPicPr>
        <p:blipFill>
          <a:blip r:embed="rId4"/>
          <a:stretch>
            <a:fillRect/>
          </a:stretch>
        </p:blipFill>
        <p:spPr>
          <a:xfrm>
            <a:off x="7010400" y="2794000"/>
            <a:ext cx="304800" cy="304800"/>
          </a:xfrm>
          <a:prstGeom prst="rect">
            <a:avLst/>
          </a:prstGeom>
        </p:spPr>
      </p:pic>
      <p:sp>
        <p:nvSpPr>
          <p:cNvPr id="5" name="TextBox 4"/>
          <p:cNvSpPr txBox="1"/>
          <p:nvPr/>
        </p:nvSpPr>
        <p:spPr>
          <a:xfrm>
            <a:off x="8534400" y="2933700"/>
            <a:ext cx="6731000" cy="749300"/>
          </a:xfrm>
          <a:prstGeom prst="rect">
            <a:avLst/>
          </a:prstGeom>
          <a:noFill/>
        </p:spPr>
        <p:txBody>
          <a:bodyPr wrap="square" lIns="0" rIns="0" tIns="0" bIns="0">
            <a:spAutoFit/>
          </a:bodyPr>
          <a:lstStyle/>
          <a:p>
            <a:pPr algn="l">
              <a:lnSpc>
                <a:spcPct val="133000"/>
              </a:lnSpc>
              <a:defRPr i="0" sz="1800" b="0">
                <a:solidFill>
                  <a:srgbClr val="4B5563"/>
                </a:solidFill>
                <a:latin typeface="Inter"/>
              </a:defRPr>
            </a:pPr>
            <a:r>
              <a:rPr i="0" sz="1800" b="0">
                <a:solidFill>
                  <a:srgbClr val="4B5563"/>
                </a:solidFill>
                <a:latin typeface="Inter"/>
              </a:rPr>
              <a:t>Le marché est caractérisé par des importateurs dominants (Chine/Europe) et une production locale fragmentée.</a:t>
            </a:r>
          </a:p>
        </p:txBody>
      </p:sp>
      <p:sp>
        <p:nvSpPr>
          <p:cNvPr id="6" name="Rounded Rectangle 5"/>
          <p:cNvSpPr/>
          <p:nvPr/>
        </p:nvSpPr>
        <p:spPr>
          <a:xfrm>
            <a:off x="8534400" y="4076700"/>
            <a:ext cx="609600" cy="609600"/>
          </a:xfrm>
          <a:prstGeom prst="roundRect">
            <a:avLst>
              <a:gd name="adj" fmla="val 16666"/>
            </a:avLst>
          </a:prstGeom>
          <a:solidFill>
            <a:srgbClr val="9333EA"/>
          </a:solidFill>
          <a:ln>
            <a:noFill/>
          </a:ln>
          <a:effectLst>
            <a:outerShdw blurRad="76200" dir="5400000" dist="508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7" name="Picture 6" descr="1ff63d16-7311-41aa-80c1-9d52d43e1e0f.png"/>
          <p:cNvPicPr>
            <a:picLocks noChangeAspect="1"/>
          </p:cNvPicPr>
          <p:nvPr/>
        </p:nvPicPr>
        <p:blipFill>
          <a:blip r:embed="rId5"/>
          <a:stretch>
            <a:fillRect/>
          </a:stretch>
        </p:blipFill>
        <p:spPr>
          <a:xfrm>
            <a:off x="8686800" y="4241800"/>
            <a:ext cx="304800" cy="304800"/>
          </a:xfrm>
          <a:prstGeom prst="rect">
            <a:avLst/>
          </a:prstGeom>
        </p:spPr>
      </p:pic>
      <p:sp>
        <p:nvSpPr>
          <p:cNvPr id="8" name="TextBox 7"/>
          <p:cNvSpPr txBox="1"/>
          <p:nvPr/>
        </p:nvSpPr>
        <p:spPr>
          <a:xfrm>
            <a:off x="9347200" y="4076700"/>
            <a:ext cx="59182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Positionnement Stratégique</a:t>
            </a:r>
          </a:p>
        </p:txBody>
      </p:sp>
      <p:sp>
        <p:nvSpPr>
          <p:cNvPr id="9" name="Rounded Rectangle 8"/>
          <p:cNvSpPr/>
          <p:nvPr/>
        </p:nvSpPr>
        <p:spPr>
          <a:xfrm>
            <a:off x="9347200" y="4533900"/>
            <a:ext cx="609600" cy="25400"/>
          </a:xfrm>
          <a:prstGeom prst="roundRect">
            <a:avLst>
              <a:gd name="adj" fmla="val 2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9347200" y="4711700"/>
            <a:ext cx="5918200" cy="3302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Production locale de haute qualité à prix compétitif.</a:t>
            </a:r>
          </a:p>
        </p:txBody>
      </p:sp>
      <p:sp>
        <p:nvSpPr>
          <p:cNvPr id="11" name="Rounded Rectangle 10"/>
          <p:cNvSpPr/>
          <p:nvPr/>
        </p:nvSpPr>
        <p:spPr>
          <a:xfrm>
            <a:off x="8534400" y="5346700"/>
            <a:ext cx="609600" cy="609600"/>
          </a:xfrm>
          <a:prstGeom prst="roundRect">
            <a:avLst>
              <a:gd name="adj" fmla="val 16666"/>
            </a:avLst>
          </a:prstGeom>
          <a:solidFill>
            <a:srgbClr val="9333EA"/>
          </a:solidFill>
          <a:ln>
            <a:noFill/>
          </a:ln>
          <a:effectLst>
            <a:outerShdw blurRad="76200" dir="5400000" dist="508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2" name="Picture 11" descr="958bb3dd-52cd-41e7-add4-cabf8a573c1b.png"/>
          <p:cNvPicPr>
            <a:picLocks noChangeAspect="1"/>
          </p:cNvPicPr>
          <p:nvPr/>
        </p:nvPicPr>
        <p:blipFill>
          <a:blip r:embed="rId6"/>
          <a:stretch>
            <a:fillRect/>
          </a:stretch>
        </p:blipFill>
        <p:spPr>
          <a:xfrm>
            <a:off x="8686800" y="5511800"/>
            <a:ext cx="304800" cy="304800"/>
          </a:xfrm>
          <a:prstGeom prst="rect">
            <a:avLst/>
          </a:prstGeom>
        </p:spPr>
      </p:pic>
      <p:sp>
        <p:nvSpPr>
          <p:cNvPr id="13" name="TextBox 12"/>
          <p:cNvSpPr txBox="1"/>
          <p:nvPr/>
        </p:nvSpPr>
        <p:spPr>
          <a:xfrm>
            <a:off x="9347200" y="5346700"/>
            <a:ext cx="59182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Expertise et Technologie</a:t>
            </a:r>
          </a:p>
        </p:txBody>
      </p:sp>
      <p:sp>
        <p:nvSpPr>
          <p:cNvPr id="14" name="Rounded Rectangle 13"/>
          <p:cNvSpPr/>
          <p:nvPr/>
        </p:nvSpPr>
        <p:spPr>
          <a:xfrm>
            <a:off x="9347200" y="5803900"/>
            <a:ext cx="609600" cy="25400"/>
          </a:xfrm>
          <a:prstGeom prst="roundRect">
            <a:avLst>
              <a:gd name="adj" fmla="val 2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5" name="TextBox 14"/>
          <p:cNvSpPr txBox="1"/>
          <p:nvPr/>
        </p:nvSpPr>
        <p:spPr>
          <a:xfrm>
            <a:off x="9347200" y="5981700"/>
            <a:ext cx="5918200" cy="3302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Expertise locale approfondie et partenariats technologiques robustes.</a:t>
            </a:r>
          </a:p>
        </p:txBody>
      </p:sp>
      <p:sp>
        <p:nvSpPr>
          <p:cNvPr id="16" name="Rounded Rectangle 15"/>
          <p:cNvSpPr/>
          <p:nvPr/>
        </p:nvSpPr>
        <p:spPr>
          <a:xfrm>
            <a:off x="8534400" y="6616700"/>
            <a:ext cx="609600" cy="609600"/>
          </a:xfrm>
          <a:prstGeom prst="roundRect">
            <a:avLst>
              <a:gd name="adj" fmla="val 16666"/>
            </a:avLst>
          </a:prstGeom>
          <a:solidFill>
            <a:srgbClr val="9333EA"/>
          </a:solidFill>
          <a:ln>
            <a:noFill/>
          </a:ln>
          <a:effectLst>
            <a:outerShdw blurRad="76200" dir="5400000" dist="508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7" name="Picture 16" descr="52fec4a8-1524-4e7a-89b6-4dbffbb615ea.png"/>
          <p:cNvPicPr>
            <a:picLocks noChangeAspect="1"/>
          </p:cNvPicPr>
          <p:nvPr/>
        </p:nvPicPr>
        <p:blipFill>
          <a:blip r:embed="rId7"/>
          <a:stretch>
            <a:fillRect/>
          </a:stretch>
        </p:blipFill>
        <p:spPr>
          <a:xfrm>
            <a:off x="8686800" y="6781800"/>
            <a:ext cx="304800" cy="304800"/>
          </a:xfrm>
          <a:prstGeom prst="rect">
            <a:avLst/>
          </a:prstGeom>
        </p:spPr>
      </p:pic>
      <p:sp>
        <p:nvSpPr>
          <p:cNvPr id="18" name="TextBox 17"/>
          <p:cNvSpPr txBox="1"/>
          <p:nvPr/>
        </p:nvSpPr>
        <p:spPr>
          <a:xfrm>
            <a:off x="9347200" y="6616700"/>
            <a:ext cx="59182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Proximité Client</a:t>
            </a:r>
          </a:p>
        </p:txBody>
      </p:sp>
      <p:sp>
        <p:nvSpPr>
          <p:cNvPr id="19" name="Rounded Rectangle 18"/>
          <p:cNvSpPr/>
          <p:nvPr/>
        </p:nvSpPr>
        <p:spPr>
          <a:xfrm>
            <a:off x="9347200" y="7073900"/>
            <a:ext cx="609600" cy="25400"/>
          </a:xfrm>
          <a:prstGeom prst="roundRect">
            <a:avLst>
              <a:gd name="adj" fmla="val 2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0" name="TextBox 19"/>
          <p:cNvSpPr txBox="1"/>
          <p:nvPr/>
        </p:nvSpPr>
        <p:spPr>
          <a:xfrm>
            <a:off x="9347200" y="7251700"/>
            <a:ext cx="5918200" cy="3302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Proximité client inégalée, garantissant un service adapté et supérieur.</a:t>
            </a:r>
          </a:p>
        </p:txBody>
      </p:sp>
      <p:sp>
        <p:nvSpPr>
          <p:cNvPr id="21" name="Rounded Rectangle 20"/>
          <p:cNvSpPr/>
          <p:nvPr/>
        </p:nvSpPr>
        <p:spPr>
          <a:xfrm>
            <a:off x="1524000" y="3225800"/>
            <a:ext cx="5689600" cy="4064000"/>
          </a:xfrm>
          <a:prstGeom prst="roundRect">
            <a:avLst>
              <a:gd name="adj" fmla="val 5000"/>
            </a:avLst>
          </a:prstGeom>
          <a:solidFill>
            <a:srgbClr val="FFFFFF"/>
          </a:solidFill>
          <a:ln>
            <a:noFill/>
          </a:ln>
          <a:effectLst>
            <a:outerShdw blurRad="190500" dir="5400000" dist="1270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22" name="Picture 21" descr="f1555ec4-0b90-4eb8-8c24-d091849bd247.png"/>
          <p:cNvPicPr>
            <a:picLocks noChangeAspect="1"/>
          </p:cNvPicPr>
          <p:nvPr/>
        </p:nvPicPr>
        <p:blipFill>
          <a:blip r:embed="rId8"/>
          <a:stretch>
            <a:fillRect/>
          </a:stretch>
        </p:blipFill>
        <p:spPr>
          <a:xfrm>
            <a:off x="1524000" y="3225800"/>
            <a:ext cx="5689600" cy="4064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117600" y="2336800"/>
            <a:ext cx="6502400" cy="4064000"/>
          </a:xfrm>
          <a:prstGeom prst="roundRect">
            <a:avLst>
              <a:gd name="adj" fmla="val 5000"/>
            </a:avLst>
          </a:prstGeom>
          <a:solidFill>
            <a:srgbClr val="FFFFFF"/>
          </a:solidFill>
          <a:ln>
            <a:noFill/>
          </a:ln>
          <a:effectLst>
            <a:outerShdw blurRad="190500" dir="5400000" dist="1270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3" name="Picture 2" descr="697c9472-5181-48b4-b643-85adcf9fb601.png"/>
          <p:cNvPicPr>
            <a:picLocks noChangeAspect="1"/>
          </p:cNvPicPr>
          <p:nvPr/>
        </p:nvPicPr>
        <p:blipFill>
          <a:blip r:embed="rId3"/>
          <a:stretch>
            <a:fillRect/>
          </a:stretch>
        </p:blipFill>
        <p:spPr>
          <a:xfrm>
            <a:off x="1117600" y="2336800"/>
            <a:ext cx="6502400" cy="4064000"/>
          </a:xfrm>
          <a:prstGeom prst="rect">
            <a:avLst/>
          </a:prstGeom>
        </p:spPr>
      </p:pic>
      <p:sp>
        <p:nvSpPr>
          <p:cNvPr id="4" name="TextBox 3"/>
          <p:cNvSpPr txBox="1"/>
          <p:nvPr/>
        </p:nvSpPr>
        <p:spPr>
          <a:xfrm>
            <a:off x="8534400" y="3479800"/>
            <a:ext cx="6731000" cy="762000"/>
          </a:xfrm>
          <a:prstGeom prst="rect">
            <a:avLst/>
          </a:prstGeom>
          <a:noFill/>
        </p:spPr>
        <p:txBody>
          <a:bodyPr wrap="square" lIns="0" rIns="0" tIns="0" bIns="0">
            <a:spAutoFit/>
          </a:bodyPr>
          <a:lstStyle/>
          <a:p>
            <a:pPr algn="l">
              <a:lnSpc>
                <a:spcPct val="70000"/>
              </a:lnSpc>
              <a:defRPr i="0" sz="6000" b="1">
                <a:solidFill>
                  <a:srgbClr val="111827"/>
                </a:solidFill>
                <a:latin typeface="Inter"/>
              </a:defRPr>
            </a:pPr>
            <a:r>
              <a:rPr i="0" sz="6000" b="1">
                <a:solidFill>
                  <a:srgbClr val="111827"/>
                </a:solidFill>
                <a:latin typeface="Inter"/>
              </a:rPr>
              <a:t>Conclusion</a:t>
            </a:r>
          </a:p>
        </p:txBody>
      </p:sp>
      <p:sp>
        <p:nvSpPr>
          <p:cNvPr id="5" name="Rounded Rectangle 4"/>
          <p:cNvSpPr/>
          <p:nvPr/>
        </p:nvSpPr>
        <p:spPr>
          <a:xfrm>
            <a:off x="8534400" y="4546600"/>
            <a:ext cx="1016000" cy="50800"/>
          </a:xfrm>
          <a:prstGeom prst="roundRect">
            <a:avLst>
              <a:gd name="adj" fmla="val 1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8534400" y="4902200"/>
            <a:ext cx="6731000" cy="355600"/>
          </a:xfrm>
          <a:prstGeom prst="rect">
            <a:avLst/>
          </a:prstGeom>
          <a:noFill/>
        </p:spPr>
        <p:txBody>
          <a:bodyPr wrap="square" lIns="0" rIns="0" tIns="0" bIns="0">
            <a:spAutoFit/>
          </a:bodyPr>
          <a:lstStyle/>
          <a:p>
            <a:pPr algn="l">
              <a:defRPr i="0" sz="1800" b="0">
                <a:solidFill>
                  <a:srgbClr val="4B5563"/>
                </a:solidFill>
                <a:latin typeface="Inter"/>
              </a:defRPr>
            </a:pPr>
            <a:r>
              <a:rPr i="0" sz="1800" b="0">
                <a:solidFill>
                  <a:srgbClr val="4B5563"/>
                </a:solidFill>
                <a:latin typeface="Inter"/>
              </a:rPr>
              <a:t>Autonomie industrielle. 14 Mrds DZD pour ALLO MAISON.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