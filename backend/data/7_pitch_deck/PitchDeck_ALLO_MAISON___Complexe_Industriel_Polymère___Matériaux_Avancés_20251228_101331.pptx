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Bienvenue à notre présentation. Nous sommes SARL ALLO MAISON, et nous sommes ravis de partager notre vision. Notre objectif est de révolutionner l'industrie polymère locale. Nous détaillerons comment notre projet vise à transformer le marché algérien, en favorisant une croissance robuste et une indépendance industrielle cruciale pour la région. Nous sommes une équipe dédiée et prête à mener ce projet ambitieux.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diapositive met en lumière les défis majeurs auxquels est confronté le marché local. Le manque de production de matériaux polymères et composites de qualité nous rend dépendants des importations coûteuses et lentes. Le déficit financier de 14 milliards DZD représente une opportunité significative pour une solution locale. Nous devons absolument investir pour combler ce vide et renforcer notre autonomie industrielle.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cette diapositive, nous présentons notre solution : une fabrication locale innovante. Nous produisons une gamme complète de polymères et composites, incluant des panneaux de haute qualité et des revêtements de sol SPC résilients. Notre objectif est de substituer les importations, créant ainsi une valeur ajoutée significative et des emplois au niveau local. Nous sommes fiers de contribuer à l'autonomie industrielle.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marché est vaste, avec un TAM de 280.1 Md DZD. Notre SAM est de 112.1 Md DZD, et nous visons à capturer 28.0 Md DZD comme SOM. Le timing est idéal grâce à la politique nationale de substitution aux importations et une croissance industrielle robuste. Nous sommes positionnés pour une expansion significative et une rentabilité élevée.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produit est un modèle d'excellence technologique. La production est automatisée et de haute précision, garantissant une qualité supérieure. Notre chaîne est verticalement intégrée pour un contrôle complet. Nous employons des technologies de pointe, assurant performance et durabilité, pour répondre aux attentes du marché.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modèle économique est axé sur la valeur et la fidélisation client. Nous ciblons les industriels via des ventes B2B directes, établissant des contrats à long terme pour garantir une stabilité de revenus. Cette approche nous permet de projeter un CA annuel de 4.2 milliards DZD et un MRR de 350.2 millions DZD, démontrant notre potentiel de rentabilité et de croissance durable.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mettons en avant notre solide traction par nos certifications et notre expertise. L'obtention des certifications ISO 9001 et 14001 garantira la qualité et le respect environnemental. Notre capacité de production couvre 10 gammes de produits. L'équipe est composée de professionnels expérimentés, assurant innovation et excellence opérationnelle.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stratégie commerciale est conçue pour une pénétration de marché rapide et efficace. Nous nous concentrons sur les ventes directes aux industriels, complétées par une présence stratégique dans les salons professionnels. Notre production locale nous confère un avantage concurrentiel, nous permettant de garantir une livraison nationale rapide sous deux semaines. Le cycle de vente B2B est optimisé, de 2 à 4 mois, avec un engagement fort envers la relation client et la réactivité, assurant une croissance durable.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cette slide, nous allons aborder le paysage concurrentiel et la manière dont nous nous positionnons. Nous faisons face à une concurrence diverse, allant des importateurs étrangers aux producteurs locaux. Cependant, notre stratégie de production locale de haute qualité à un prix compétitif, combinée à notre expertise et nos partenariats technologiques, nous confère un avantage distinctif. Notre proximité client est également un pilier essentiel de notre succès.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exprimons notre gratitude pour votre temps et votre intérêt. Notre projet est stratégique, visant à remplacer les importations et à renforcer l'économie nationale. Nous recherchons un investissement de 14.0 milliards DZD pour lancer notre complexe industriel, promettant des retours solides et un impact durable. Votre soutien est essentiel pour réaliser cette vision et bâtir un avenir industriel indépendant. Nous sommes à votre disposition pour toute question.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4.png"/><Relationship Id="rId8"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4.png"/><Relationship Id="rId8"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22.png"/><Relationship Id="rId6" Type="http://schemas.openxmlformats.org/officeDocument/2006/relationships/image" Target="../media/image4.png"/><Relationship Id="rId7" Type="http://schemas.openxmlformats.org/officeDocument/2006/relationships/image" Target="../media/image23.png"/><Relationship Id="rId8"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5.png"/><Relationship Id="rId7"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7.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6416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704481bb-cadf-42c6-8d6c-df36f349d92d.png"/>
          <p:cNvPicPr>
            <a:picLocks noChangeAspect="1"/>
          </p:cNvPicPr>
          <p:nvPr/>
        </p:nvPicPr>
        <p:blipFill>
          <a:blip r:embed="rId3"/>
          <a:stretch>
            <a:fillRect/>
          </a:stretch>
        </p:blipFill>
        <p:spPr>
          <a:xfrm>
            <a:off x="1117600" y="2641600"/>
            <a:ext cx="6502400" cy="4064000"/>
          </a:xfrm>
          <a:prstGeom prst="rect">
            <a:avLst/>
          </a:prstGeom>
        </p:spPr>
      </p:pic>
      <p:sp>
        <p:nvSpPr>
          <p:cNvPr id="4" name="TextBox 3"/>
          <p:cNvSpPr txBox="1"/>
          <p:nvPr/>
        </p:nvSpPr>
        <p:spPr>
          <a:xfrm>
            <a:off x="8534400" y="22479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SARL ALLO MAISON</a:t>
            </a:r>
          </a:p>
        </p:txBody>
      </p:sp>
      <p:sp>
        <p:nvSpPr>
          <p:cNvPr id="5" name="Rounded Rectangle 4"/>
          <p:cNvSpPr/>
          <p:nvPr/>
        </p:nvSpPr>
        <p:spPr>
          <a:xfrm>
            <a:off x="8534400" y="40767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432300"/>
            <a:ext cx="6731000" cy="10668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Le Futur de l'Industrie Polymère Locale. Projet ambitieux pour transformer le marché des matériaux polymères et composites en Algérie, visant indépendance industrielle.</a:t>
            </a:r>
          </a:p>
        </p:txBody>
      </p:sp>
      <p:sp>
        <p:nvSpPr>
          <p:cNvPr id="7" name="Rounded Rectangle 6"/>
          <p:cNvSpPr/>
          <p:nvPr/>
        </p:nvSpPr>
        <p:spPr>
          <a:xfrm>
            <a:off x="8534400" y="5803900"/>
            <a:ext cx="6705600" cy="1295400"/>
          </a:xfrm>
          <a:prstGeom prst="roundRect">
            <a:avLst>
              <a:gd name="adj" fmla="val 7843"/>
            </a:avLst>
          </a:prstGeom>
          <a:solidFill>
            <a:srgbClr val="FFFFFF">
              <a:alpha val="50000"/>
            </a:srgbClr>
          </a:solidFill>
          <a:ln w="12700">
            <a:solidFill>
              <a:srgbClr val="E5E7EB"/>
            </a:solidFill>
          </a:ln>
          <a:effectLst>
            <a:outerShdw blurRad="25400" dir="5400000" dist="12700"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8851900" y="61468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8940800" y="6299200"/>
            <a:ext cx="457200" cy="304800"/>
          </a:xfrm>
          <a:prstGeom prst="rect">
            <a:avLst/>
          </a:prstGeom>
          <a:noFill/>
        </p:spPr>
        <p:txBody>
          <a:bodyPr wrap="square" lIns="0" rIns="0" tIns="0" bIns="0">
            <a:spAutoFit/>
          </a:bodyPr>
          <a:lstStyle/>
          <a:p>
            <a:pPr algn="l">
              <a:defRPr i="0" sz="1600" b="1">
                <a:solidFill>
                  <a:srgbClr val="FFFFFF"/>
                </a:solidFill>
                <a:latin typeface="Inter"/>
              </a:defRPr>
            </a:pPr>
            <a:r>
              <a:rPr i="0" sz="1600" b="1">
                <a:solidFill>
                  <a:srgbClr val="FFFFFF"/>
                </a:solidFill>
                <a:latin typeface="Inter"/>
              </a:rPr>
              <a:t>LDD</a:t>
            </a:r>
          </a:p>
        </p:txBody>
      </p:sp>
      <p:sp>
        <p:nvSpPr>
          <p:cNvPr id="10" name="TextBox 9"/>
          <p:cNvSpPr txBox="1"/>
          <p:nvPr/>
        </p:nvSpPr>
        <p:spPr>
          <a:xfrm>
            <a:off x="9664700" y="6121400"/>
            <a:ext cx="24384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L'Équipe de Direction</a:t>
            </a:r>
          </a:p>
        </p:txBody>
      </p:sp>
      <p:sp>
        <p:nvSpPr>
          <p:cNvPr id="11" name="TextBox 10"/>
          <p:cNvSpPr txBox="1"/>
          <p:nvPr/>
        </p:nvSpPr>
        <p:spPr>
          <a:xfrm>
            <a:off x="9664700" y="6477000"/>
            <a:ext cx="2438400" cy="3048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28 Décembre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Le Problème</a:t>
            </a:r>
          </a:p>
        </p:txBody>
      </p:sp>
      <p:pic>
        <p:nvPicPr>
          <p:cNvPr id="3" name="Picture 2" descr="7116f80e-fcf7-4645-820a-8f3570d2e941.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74e71145-6545-4ab8-8556-9f73feadc4d6.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247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Le marché local dépend fortement des importations de matériaux polymères et composites de qualité, entraînant des coûts élevés et des retards pénalisants pour les entreprises.</a:t>
            </a:r>
          </a:p>
        </p:txBody>
      </p:sp>
      <p:sp>
        <p:nvSpPr>
          <p:cNvPr id="6" name="Rounded Rectangle 5"/>
          <p:cNvSpPr/>
          <p:nvPr/>
        </p:nvSpPr>
        <p:spPr>
          <a:xfrm>
            <a:off x="8534400" y="3771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c72fdb47-ff74-4102-b5a9-cb2e14f653b7.png"/>
          <p:cNvPicPr>
            <a:picLocks noChangeAspect="1"/>
          </p:cNvPicPr>
          <p:nvPr/>
        </p:nvPicPr>
        <p:blipFill>
          <a:blip r:embed="rId5"/>
          <a:stretch>
            <a:fillRect/>
          </a:stretch>
        </p:blipFill>
        <p:spPr>
          <a:xfrm>
            <a:off x="8686800" y="3937000"/>
            <a:ext cx="304800" cy="304800"/>
          </a:xfrm>
          <a:prstGeom prst="rect">
            <a:avLst/>
          </a:prstGeom>
        </p:spPr>
      </p:pic>
      <p:sp>
        <p:nvSpPr>
          <p:cNvPr id="8" name="TextBox 7"/>
          <p:cNvSpPr txBox="1"/>
          <p:nvPr/>
        </p:nvSpPr>
        <p:spPr>
          <a:xfrm>
            <a:off x="9347200" y="3771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Déficit de Production Locale</a:t>
            </a:r>
          </a:p>
        </p:txBody>
      </p:sp>
      <p:sp>
        <p:nvSpPr>
          <p:cNvPr id="9" name="Rounded Rectangle 8"/>
          <p:cNvSpPr/>
          <p:nvPr/>
        </p:nvSpPr>
        <p:spPr>
          <a:xfrm>
            <a:off x="9347200" y="4229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406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Manque crucial de production nationale de matériaux polymères et composites de qualité sur le marché.</a:t>
            </a:r>
          </a:p>
        </p:txBody>
      </p:sp>
      <p:sp>
        <p:nvSpPr>
          <p:cNvPr id="11" name="Rounded Rectangle 10"/>
          <p:cNvSpPr/>
          <p:nvPr/>
        </p:nvSpPr>
        <p:spPr>
          <a:xfrm>
            <a:off x="8534400" y="537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b1117a00-8289-4419-8b27-6ae7c190bfec.png"/>
          <p:cNvPicPr>
            <a:picLocks noChangeAspect="1"/>
          </p:cNvPicPr>
          <p:nvPr/>
        </p:nvPicPr>
        <p:blipFill>
          <a:blip r:embed="rId6"/>
          <a:stretch>
            <a:fillRect/>
          </a:stretch>
        </p:blipFill>
        <p:spPr>
          <a:xfrm>
            <a:off x="8686800" y="5537200"/>
            <a:ext cx="304800" cy="304800"/>
          </a:xfrm>
          <a:prstGeom prst="rect">
            <a:avLst/>
          </a:prstGeom>
        </p:spPr>
      </p:pic>
      <p:sp>
        <p:nvSpPr>
          <p:cNvPr id="13" name="TextBox 12"/>
          <p:cNvSpPr txBox="1"/>
          <p:nvPr/>
        </p:nvSpPr>
        <p:spPr>
          <a:xfrm>
            <a:off x="9347200" y="537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Coûts et Délais d'Importation</a:t>
            </a:r>
          </a:p>
        </p:txBody>
      </p:sp>
      <p:sp>
        <p:nvSpPr>
          <p:cNvPr id="14" name="Rounded Rectangle 13"/>
          <p:cNvSpPr/>
          <p:nvPr/>
        </p:nvSpPr>
        <p:spPr>
          <a:xfrm>
            <a:off x="9347200" y="582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00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Les alternatives importées sont onéreuses, avec des délais de livraison excessifs impactant la compétitivité.</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a185912f-3d3e-47a6-80c5-38f02949dfbb.png"/>
          <p:cNvPicPr>
            <a:picLocks noChangeAspect="1"/>
          </p:cNvPicPr>
          <p:nvPr/>
        </p:nvPicPr>
        <p:blipFill>
          <a:blip r:embed="rId7"/>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Impact Économique Significatif</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Un déficit annuel estimé à 14.0 milliards DZD révèle un besoin urgent d'investissement local.</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8bf63075-9719-4722-9066-ee96dff29019.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Notre Solution: Fabrication Locale</a:t>
            </a:r>
          </a:p>
        </p:txBody>
      </p:sp>
      <p:pic>
        <p:nvPicPr>
          <p:cNvPr id="3" name="Picture 2" descr="7116f80e-fcf7-4645-820a-8f3570d2e941.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74e71145-6545-4ab8-8556-9f73feadc4d6.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9337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Nous proposons une gamme complète de produits polymères et composites fabriqués localement, répondant aux besoins du marché.</a:t>
            </a:r>
          </a:p>
        </p:txBody>
      </p:sp>
      <p:sp>
        <p:nvSpPr>
          <p:cNvPr id="6" name="Rounded Rectangle 5"/>
          <p:cNvSpPr/>
          <p:nvPr/>
        </p:nvSpPr>
        <p:spPr>
          <a:xfrm>
            <a:off x="8534400" y="40767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b7a3a567-fe59-4aa6-be55-ed858415e50f.png"/>
          <p:cNvPicPr>
            <a:picLocks noChangeAspect="1"/>
          </p:cNvPicPr>
          <p:nvPr/>
        </p:nvPicPr>
        <p:blipFill>
          <a:blip r:embed="rId5"/>
          <a:stretch>
            <a:fillRect/>
          </a:stretch>
        </p:blipFill>
        <p:spPr>
          <a:xfrm>
            <a:off x="8686800" y="4241800"/>
            <a:ext cx="304800" cy="304800"/>
          </a:xfrm>
          <a:prstGeom prst="rect">
            <a:avLst/>
          </a:prstGeom>
        </p:spPr>
      </p:pic>
      <p:sp>
        <p:nvSpPr>
          <p:cNvPr id="8" name="TextBox 7"/>
          <p:cNvSpPr txBox="1"/>
          <p:nvPr/>
        </p:nvSpPr>
        <p:spPr>
          <a:xfrm>
            <a:off x="9347200" y="40767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Panneaux polymères et composites</a:t>
            </a:r>
          </a:p>
        </p:txBody>
      </p:sp>
      <p:sp>
        <p:nvSpPr>
          <p:cNvPr id="9" name="Rounded Rectangle 8"/>
          <p:cNvSpPr/>
          <p:nvPr/>
        </p:nvSpPr>
        <p:spPr>
          <a:xfrm>
            <a:off x="9347200" y="45339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7117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Fabrication locale de matériaux de haute qualité.</a:t>
            </a:r>
          </a:p>
        </p:txBody>
      </p:sp>
      <p:sp>
        <p:nvSpPr>
          <p:cNvPr id="11" name="Rounded Rectangle 10"/>
          <p:cNvSpPr/>
          <p:nvPr/>
        </p:nvSpPr>
        <p:spPr>
          <a:xfrm>
            <a:off x="8534400" y="53467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7759e658-f987-4406-abe7-2c9b2fb3ed42.png"/>
          <p:cNvPicPr>
            <a:picLocks noChangeAspect="1"/>
          </p:cNvPicPr>
          <p:nvPr/>
        </p:nvPicPr>
        <p:blipFill>
          <a:blip r:embed="rId6"/>
          <a:stretch>
            <a:fillRect/>
          </a:stretch>
        </p:blipFill>
        <p:spPr>
          <a:xfrm>
            <a:off x="8686800" y="5511800"/>
            <a:ext cx="304800" cy="304800"/>
          </a:xfrm>
          <a:prstGeom prst="rect">
            <a:avLst/>
          </a:prstGeom>
        </p:spPr>
      </p:pic>
      <p:sp>
        <p:nvSpPr>
          <p:cNvPr id="13" name="TextBox 12"/>
          <p:cNvSpPr txBox="1"/>
          <p:nvPr/>
        </p:nvSpPr>
        <p:spPr>
          <a:xfrm>
            <a:off x="9347200" y="53467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Revêtements de sol SPC</a:t>
            </a:r>
          </a:p>
        </p:txBody>
      </p:sp>
      <p:sp>
        <p:nvSpPr>
          <p:cNvPr id="14" name="Rounded Rectangle 13"/>
          <p:cNvSpPr/>
          <p:nvPr/>
        </p:nvSpPr>
        <p:spPr>
          <a:xfrm>
            <a:off x="9347200" y="58039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9817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Résistants, esthétiques, pose facile.</a:t>
            </a:r>
          </a:p>
        </p:txBody>
      </p:sp>
      <p:sp>
        <p:nvSpPr>
          <p:cNvPr id="16" name="Rounded Rectangle 15"/>
          <p:cNvSpPr/>
          <p:nvPr/>
        </p:nvSpPr>
        <p:spPr>
          <a:xfrm>
            <a:off x="8534400" y="66167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c72fdb47-ff74-4102-b5a9-cb2e14f653b7.png"/>
          <p:cNvPicPr>
            <a:picLocks noChangeAspect="1"/>
          </p:cNvPicPr>
          <p:nvPr/>
        </p:nvPicPr>
        <p:blipFill>
          <a:blip r:embed="rId7"/>
          <a:stretch>
            <a:fillRect/>
          </a:stretch>
        </p:blipFill>
        <p:spPr>
          <a:xfrm>
            <a:off x="8686800" y="6781800"/>
            <a:ext cx="304800" cy="304800"/>
          </a:xfrm>
          <a:prstGeom prst="rect">
            <a:avLst/>
          </a:prstGeom>
        </p:spPr>
      </p:pic>
      <p:sp>
        <p:nvSpPr>
          <p:cNvPr id="18" name="TextBox 17"/>
          <p:cNvSpPr txBox="1"/>
          <p:nvPr/>
        </p:nvSpPr>
        <p:spPr>
          <a:xfrm>
            <a:off x="9347200" y="66167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Substitution aux importations</a:t>
            </a:r>
          </a:p>
        </p:txBody>
      </p:sp>
      <p:sp>
        <p:nvSpPr>
          <p:cNvPr id="19" name="Rounded Rectangle 18"/>
          <p:cNvSpPr/>
          <p:nvPr/>
        </p:nvSpPr>
        <p:spPr>
          <a:xfrm>
            <a:off x="9347200" y="70739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251700"/>
            <a:ext cx="59182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Crée valeur locale, réduit dépendance.</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e8d0ccda-91a7-446a-93a7-1536c022c4c8.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316e0c6-00e9-4aa3-a37d-74d5489e06a4.png"/>
          <p:cNvPicPr>
            <a:picLocks noChangeAspect="1"/>
          </p:cNvPicPr>
          <p:nvPr/>
        </p:nvPicPr>
        <p:blipFill>
          <a:blip r:embed="rId3"/>
          <a:stretch>
            <a:fillRect/>
          </a:stretch>
        </p:blipFill>
        <p:spPr>
          <a:xfrm>
            <a:off x="0" y="0"/>
            <a:ext cx="3251200" cy="9144000"/>
          </a:xfrm>
          <a:prstGeom prst="rect">
            <a:avLst/>
          </a:prstGeom>
        </p:spPr>
      </p:pic>
      <p:pic>
        <p:nvPicPr>
          <p:cNvPr id="3" name="Picture 2" descr="c316e0c6-00e9-4aa3-a37d-74d5489e06a4.png"/>
          <p:cNvPicPr>
            <a:picLocks noChangeAspect="1"/>
          </p:cNvPicPr>
          <p:nvPr/>
        </p:nvPicPr>
        <p:blipFill>
          <a:blip r:embed="rId3"/>
          <a:stretch>
            <a:fillRect/>
          </a:stretch>
        </p:blipFill>
        <p:spPr>
          <a:xfrm>
            <a:off x="13004800" y="0"/>
            <a:ext cx="3251200" cy="9144000"/>
          </a:xfrm>
          <a:prstGeom prst="rect">
            <a:avLst/>
          </a:prstGeom>
        </p:spPr>
      </p:pic>
      <p:sp>
        <p:nvSpPr>
          <p:cNvPr id="4" name="TextBox 3"/>
          <p:cNvSpPr txBox="1"/>
          <p:nvPr/>
        </p:nvSpPr>
        <p:spPr>
          <a:xfrm>
            <a:off x="1016000" y="2743200"/>
            <a:ext cx="14249400" cy="762000"/>
          </a:xfrm>
          <a:prstGeom prst="rect">
            <a:avLst/>
          </a:prstGeom>
          <a:noFill/>
        </p:spPr>
        <p:txBody>
          <a:bodyPr wrap="square" lIns="0" rIns="0" tIns="0" bIns="0">
            <a:spAutoFit/>
          </a:bodyPr>
          <a:lstStyle/>
          <a:p>
            <a:pPr algn="ctr">
              <a:lnSpc>
                <a:spcPct val="70000"/>
              </a:lnSpc>
              <a:defRPr i="0" sz="6000" b="1">
                <a:solidFill>
                  <a:srgbClr val="111827"/>
                </a:solidFill>
                <a:latin typeface="Inter"/>
              </a:defRPr>
            </a:pPr>
            <a:r>
              <a:rPr i="0" sz="6000" b="1">
                <a:solidFill>
                  <a:srgbClr val="111827"/>
                </a:solidFill>
                <a:latin typeface="Inter"/>
              </a:rPr>
              <a:t>Taille du Marché: Un Potentiel Colossal</a:t>
            </a:r>
          </a:p>
        </p:txBody>
      </p:sp>
      <p:sp>
        <p:nvSpPr>
          <p:cNvPr id="5" name="TextBox 4"/>
          <p:cNvSpPr txBox="1"/>
          <p:nvPr/>
        </p:nvSpPr>
        <p:spPr>
          <a:xfrm>
            <a:off x="1333500" y="4114800"/>
            <a:ext cx="42799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TAM</a:t>
            </a:r>
          </a:p>
        </p:txBody>
      </p:sp>
      <p:sp>
        <p:nvSpPr>
          <p:cNvPr id="6" name="TextBox 5"/>
          <p:cNvSpPr txBox="1"/>
          <p:nvPr/>
        </p:nvSpPr>
        <p:spPr>
          <a:xfrm>
            <a:off x="1333500" y="4572000"/>
            <a:ext cx="42799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280.1 Md</a:t>
            </a:r>
          </a:p>
        </p:txBody>
      </p:sp>
      <p:sp>
        <p:nvSpPr>
          <p:cNvPr id="7" name="Rounded Rectangle 6"/>
          <p:cNvSpPr/>
          <p:nvPr/>
        </p:nvSpPr>
        <p:spPr>
          <a:xfrm>
            <a:off x="1333500" y="5537200"/>
            <a:ext cx="4254500" cy="762000"/>
          </a:xfrm>
          <a:prstGeom prst="roundRect">
            <a:avLst>
              <a:gd name="adj" fmla="val 13333"/>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1587500" y="5791200"/>
            <a:ext cx="37719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Potentiel maximal de revenus pour le marché global.</a:t>
            </a:r>
          </a:p>
        </p:txBody>
      </p:sp>
      <p:sp>
        <p:nvSpPr>
          <p:cNvPr id="9" name="TextBox 8"/>
          <p:cNvSpPr txBox="1"/>
          <p:nvPr/>
        </p:nvSpPr>
        <p:spPr>
          <a:xfrm>
            <a:off x="6134100" y="4114800"/>
            <a:ext cx="40259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SAM</a:t>
            </a:r>
          </a:p>
        </p:txBody>
      </p:sp>
      <p:sp>
        <p:nvSpPr>
          <p:cNvPr id="10" name="TextBox 9"/>
          <p:cNvSpPr txBox="1"/>
          <p:nvPr/>
        </p:nvSpPr>
        <p:spPr>
          <a:xfrm>
            <a:off x="6134100" y="4572000"/>
            <a:ext cx="40259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112.1 Md</a:t>
            </a:r>
          </a:p>
        </p:txBody>
      </p:sp>
      <p:sp>
        <p:nvSpPr>
          <p:cNvPr id="11" name="Rounded Rectangle 10"/>
          <p:cNvSpPr/>
          <p:nvPr/>
        </p:nvSpPr>
        <p:spPr>
          <a:xfrm>
            <a:off x="6134100" y="5537200"/>
            <a:ext cx="4000500" cy="762000"/>
          </a:xfrm>
          <a:prstGeom prst="roundRect">
            <a:avLst>
              <a:gd name="adj" fmla="val 13333"/>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6388100" y="5791200"/>
            <a:ext cx="35179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Portion du marché total que nous pouvons cibler.</a:t>
            </a:r>
          </a:p>
        </p:txBody>
      </p:sp>
      <p:sp>
        <p:nvSpPr>
          <p:cNvPr id="13" name="TextBox 12"/>
          <p:cNvSpPr txBox="1"/>
          <p:nvPr/>
        </p:nvSpPr>
        <p:spPr>
          <a:xfrm>
            <a:off x="10934700" y="4114800"/>
            <a:ext cx="37338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SOM</a:t>
            </a:r>
          </a:p>
        </p:txBody>
      </p:sp>
      <p:sp>
        <p:nvSpPr>
          <p:cNvPr id="14" name="TextBox 13"/>
          <p:cNvSpPr txBox="1"/>
          <p:nvPr/>
        </p:nvSpPr>
        <p:spPr>
          <a:xfrm>
            <a:off x="10934700" y="4572000"/>
            <a:ext cx="3733800" cy="762000"/>
          </a:xfrm>
          <a:prstGeom prst="rect">
            <a:avLst/>
          </a:prstGeom>
          <a:noFill/>
        </p:spPr>
        <p:txBody>
          <a:bodyPr wrap="square" lIns="0" rIns="0" tIns="0" bIns="0">
            <a:spAutoFit/>
          </a:bodyPr>
          <a:lstStyle/>
          <a:p>
            <a:pPr algn="ctr">
              <a:lnSpc>
                <a:spcPct val="70000"/>
              </a:lnSpc>
              <a:defRPr i="0" sz="6000" b="1">
                <a:solidFill>
                  <a:srgbClr val="9333EA"/>
                </a:solidFill>
                <a:latin typeface="Inter"/>
              </a:defRPr>
            </a:pPr>
            <a:r>
              <a:rPr i="0" sz="6000" b="1">
                <a:solidFill>
                  <a:srgbClr val="9333EA"/>
                </a:solidFill>
                <a:latin typeface="Inter"/>
              </a:rPr>
              <a:t>28.0 Md</a:t>
            </a:r>
          </a:p>
        </p:txBody>
      </p:sp>
      <p:sp>
        <p:nvSpPr>
          <p:cNvPr id="15" name="Rounded Rectangle 14"/>
          <p:cNvSpPr/>
          <p:nvPr/>
        </p:nvSpPr>
        <p:spPr>
          <a:xfrm>
            <a:off x="10934700" y="5537200"/>
            <a:ext cx="3708400" cy="762000"/>
          </a:xfrm>
          <a:prstGeom prst="roundRect">
            <a:avLst>
              <a:gd name="adj" fmla="val 13333"/>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TextBox 15"/>
          <p:cNvSpPr txBox="1"/>
          <p:nvPr/>
        </p:nvSpPr>
        <p:spPr>
          <a:xfrm>
            <a:off x="11188700" y="5791200"/>
            <a:ext cx="3225800" cy="254000"/>
          </a:xfrm>
          <a:prstGeom prst="rect">
            <a:avLst/>
          </a:prstGeom>
          <a:noFill/>
        </p:spPr>
        <p:txBody>
          <a:bodyPr wrap="square" lIns="0" rIns="0" tIns="0" bIns="0">
            <a:spAutoFit/>
          </a:bodyPr>
          <a:lstStyle/>
          <a:p>
            <a:pPr algn="ctr">
              <a:defRPr i="0" sz="1400" b="0">
                <a:solidFill>
                  <a:srgbClr val="FFFFFF"/>
                </a:solidFill>
                <a:latin typeface="Inter"/>
              </a:defRPr>
            </a:pPr>
            <a:r>
              <a:rPr i="0" sz="1400" b="0">
                <a:solidFill>
                  <a:srgbClr val="FFFFFF"/>
                </a:solidFill>
                <a:latin typeface="Inter"/>
              </a:rPr>
              <a:t>Partie du SAM visée à court et moyen terme.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Le Produit: Excellence Technologique</a:t>
            </a:r>
          </a:p>
        </p:txBody>
      </p:sp>
      <p:pic>
        <p:nvPicPr>
          <p:cNvPr id="3" name="Picture 2" descr="7116f80e-fcf7-4645-820a-8f3570d2e941.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74e71145-6545-4ab8-8556-9f73feadc4d6.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247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Notre produit est le résultat d'un processus de fabrication automatisé et intégré. Nous utilisons des technologies de pointe pour garantir performance et durabilité.</a:t>
            </a:r>
          </a:p>
        </p:txBody>
      </p:sp>
      <p:sp>
        <p:nvSpPr>
          <p:cNvPr id="6" name="Rounded Rectangle 5"/>
          <p:cNvSpPr/>
          <p:nvPr/>
        </p:nvSpPr>
        <p:spPr>
          <a:xfrm>
            <a:off x="8534400" y="3771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c890cf0b-9e3a-49be-903c-e3bfd7d90a5a.png"/>
          <p:cNvPicPr>
            <a:picLocks noChangeAspect="1"/>
          </p:cNvPicPr>
          <p:nvPr/>
        </p:nvPicPr>
        <p:blipFill>
          <a:blip r:embed="rId5"/>
          <a:stretch>
            <a:fillRect/>
          </a:stretch>
        </p:blipFill>
        <p:spPr>
          <a:xfrm>
            <a:off x="8686800" y="3937000"/>
            <a:ext cx="304800" cy="304800"/>
          </a:xfrm>
          <a:prstGeom prst="rect">
            <a:avLst/>
          </a:prstGeom>
        </p:spPr>
      </p:pic>
      <p:sp>
        <p:nvSpPr>
          <p:cNvPr id="8" name="TextBox 7"/>
          <p:cNvSpPr txBox="1"/>
          <p:nvPr/>
        </p:nvSpPr>
        <p:spPr>
          <a:xfrm>
            <a:off x="9347200" y="3771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Production Automatisée</a:t>
            </a:r>
          </a:p>
        </p:txBody>
      </p:sp>
      <p:sp>
        <p:nvSpPr>
          <p:cNvPr id="9" name="Rounded Rectangle 8"/>
          <p:cNvSpPr/>
          <p:nvPr/>
        </p:nvSpPr>
        <p:spPr>
          <a:xfrm>
            <a:off x="9347200" y="4229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406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Notre processus de fabrication est entièrement automatisé et de haute précision, optimisant l'efficacité et la consistance.</a:t>
            </a:r>
          </a:p>
        </p:txBody>
      </p:sp>
      <p:sp>
        <p:nvSpPr>
          <p:cNvPr id="11" name="Rounded Rectangle 10"/>
          <p:cNvSpPr/>
          <p:nvPr/>
        </p:nvSpPr>
        <p:spPr>
          <a:xfrm>
            <a:off x="8534400" y="537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af488fa4-2b8d-472d-8457-d084a4d1005f.png"/>
          <p:cNvPicPr>
            <a:picLocks noChangeAspect="1"/>
          </p:cNvPicPr>
          <p:nvPr/>
        </p:nvPicPr>
        <p:blipFill>
          <a:blip r:embed="rId6"/>
          <a:stretch>
            <a:fillRect/>
          </a:stretch>
        </p:blipFill>
        <p:spPr>
          <a:xfrm>
            <a:off x="8686800" y="5537200"/>
            <a:ext cx="304800" cy="304800"/>
          </a:xfrm>
          <a:prstGeom prst="rect">
            <a:avLst/>
          </a:prstGeom>
        </p:spPr>
      </p:pic>
      <p:sp>
        <p:nvSpPr>
          <p:cNvPr id="13" name="TextBox 12"/>
          <p:cNvSpPr txBox="1"/>
          <p:nvPr/>
        </p:nvSpPr>
        <p:spPr>
          <a:xfrm>
            <a:off x="9347200" y="537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Chaîne Intégrée</a:t>
            </a:r>
          </a:p>
        </p:txBody>
      </p:sp>
      <p:sp>
        <p:nvSpPr>
          <p:cNvPr id="14" name="Rounded Rectangle 13"/>
          <p:cNvSpPr/>
          <p:nvPr/>
        </p:nvSpPr>
        <p:spPr>
          <a:xfrm>
            <a:off x="9347200" y="582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00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Nous opérons une chaîne de production verticalement intégrée, assurant un contrôle qualité total et la performance.</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7ee0014b-16c8-4aa8-a83b-8f0cc162b9c3.png"/>
          <p:cNvPicPr>
            <a:picLocks noChangeAspect="1"/>
          </p:cNvPicPr>
          <p:nvPr/>
        </p:nvPicPr>
        <p:blipFill>
          <a:blip r:embed="rId7"/>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Technologies de Pointe</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L'utilisation de technologies avancées garantit la durabilité de nos produits et une innovation constante.</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1b200e76-75cf-4eaf-a406-eba04456b0b2.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74df8645-cefd-40f0-bf44-5c0cb502f529.png"/>
          <p:cNvPicPr>
            <a:picLocks noChangeAspect="1"/>
          </p:cNvPicPr>
          <p:nvPr/>
        </p:nvPicPr>
        <p:blipFill>
          <a:blip r:embed="rId3"/>
          <a:stretch>
            <a:fillRect/>
          </a:stretch>
        </p:blipFill>
        <p:spPr>
          <a:xfrm>
            <a:off x="0" y="6705600"/>
            <a:ext cx="2438400" cy="2438400"/>
          </a:xfrm>
          <a:prstGeom prst="rect">
            <a:avLst/>
          </a:prstGeom>
        </p:spPr>
      </p:pic>
      <p:pic>
        <p:nvPicPr>
          <p:cNvPr id="3" name="Picture 2" descr="4d17b6b8-29a6-4f90-9686-68feec31affa.png"/>
          <p:cNvPicPr>
            <a:picLocks noChangeAspect="1"/>
          </p:cNvPicPr>
          <p:nvPr/>
        </p:nvPicPr>
        <p:blipFill>
          <a:blip r:embed="rId4"/>
          <a:stretch>
            <a:fillRect/>
          </a:stretch>
        </p:blipFill>
        <p:spPr>
          <a:xfrm>
            <a:off x="13004800" y="0"/>
            <a:ext cx="3251200" cy="3251200"/>
          </a:xfrm>
          <a:prstGeom prst="rect">
            <a:avLst/>
          </a:prstGeom>
        </p:spPr>
      </p:pic>
      <p:sp>
        <p:nvSpPr>
          <p:cNvPr id="4" name="Rounded Rectangle 3"/>
          <p:cNvSpPr/>
          <p:nvPr/>
        </p:nvSpPr>
        <p:spPr>
          <a:xfrm>
            <a:off x="1117600" y="2235200"/>
            <a:ext cx="6502400" cy="4876800"/>
          </a:xfrm>
          <a:prstGeom prst="roundRect">
            <a:avLst>
              <a:gd name="adj" fmla="val 4166"/>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4456cdf1-9aa5-4b62-be84-c66ec0930e8b.png"/>
          <p:cNvPicPr>
            <a:picLocks noChangeAspect="1"/>
          </p:cNvPicPr>
          <p:nvPr/>
        </p:nvPicPr>
        <p:blipFill>
          <a:blip r:embed="rId5"/>
          <a:stretch>
            <a:fillRect/>
          </a:stretch>
        </p:blipFill>
        <p:spPr>
          <a:xfrm>
            <a:off x="1117600" y="2235200"/>
            <a:ext cx="6502400" cy="4876800"/>
          </a:xfrm>
          <a:prstGeom prst="rect">
            <a:avLst/>
          </a:prstGeom>
        </p:spPr>
      </p:pic>
      <p:sp>
        <p:nvSpPr>
          <p:cNvPr id="6" name="TextBox 5"/>
          <p:cNvSpPr txBox="1"/>
          <p:nvPr/>
        </p:nvSpPr>
        <p:spPr>
          <a:xfrm>
            <a:off x="8534400" y="2540000"/>
            <a:ext cx="67310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Modèle Économique</a:t>
            </a:r>
          </a:p>
        </p:txBody>
      </p:sp>
      <p:sp>
        <p:nvSpPr>
          <p:cNvPr id="7" name="TextBox 6"/>
          <p:cNvSpPr txBox="1"/>
          <p:nvPr/>
        </p:nvSpPr>
        <p:spPr>
          <a:xfrm>
            <a:off x="8534400" y="3606800"/>
            <a:ext cx="6731000" cy="7112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Notre stratégie repose sur des ventes B2B directes et des contrats à long terme, assurant une croissance stable et des revenus prévisibles.</a:t>
            </a:r>
          </a:p>
        </p:txBody>
      </p:sp>
      <p:sp>
        <p:nvSpPr>
          <p:cNvPr id="8" name="TextBox 7"/>
          <p:cNvSpPr txBox="1"/>
          <p:nvPr/>
        </p:nvSpPr>
        <p:spPr>
          <a:xfrm>
            <a:off x="8534400" y="4622800"/>
            <a:ext cx="3225800" cy="254000"/>
          </a:xfrm>
          <a:prstGeom prst="rect">
            <a:avLst/>
          </a:prstGeom>
          <a:noFill/>
        </p:spPr>
        <p:txBody>
          <a:bodyPr wrap="square" lIns="0" rIns="0" tIns="0" bIns="0">
            <a:spAutoFit/>
          </a:bodyPr>
          <a:lstStyle/>
          <a:p>
            <a:pPr algn="ctr">
              <a:defRPr i="0" sz="1400" b="0">
                <a:solidFill>
                  <a:srgbClr val="4B5563"/>
                </a:solidFill>
                <a:latin typeface="Inter"/>
              </a:defRPr>
            </a:pPr>
            <a:r>
              <a:rPr i="0" sz="1400" b="0">
                <a:solidFill>
                  <a:srgbClr val="4B5563"/>
                </a:solidFill>
                <a:latin typeface="Inter"/>
              </a:rPr>
              <a:t>CA Annuel Projeté</a:t>
            </a:r>
          </a:p>
        </p:txBody>
      </p:sp>
      <p:sp>
        <p:nvSpPr>
          <p:cNvPr id="9" name="TextBox 8"/>
          <p:cNvSpPr txBox="1"/>
          <p:nvPr/>
        </p:nvSpPr>
        <p:spPr>
          <a:xfrm>
            <a:off x="8534400" y="4978400"/>
            <a:ext cx="3225800" cy="1828800"/>
          </a:xfrm>
          <a:prstGeom prst="rect">
            <a:avLst/>
          </a:prstGeom>
          <a:noFill/>
        </p:spPr>
        <p:txBody>
          <a:bodyPr wrap="square" lIns="0" rIns="0" tIns="0" bIns="0">
            <a:spAutoFit/>
          </a:bodyPr>
          <a:lstStyle/>
          <a:p>
            <a:pPr algn="ctr">
              <a:lnSpc>
                <a:spcPct val="70000"/>
              </a:lnSpc>
              <a:defRPr i="0" sz="4800" b="1">
                <a:solidFill>
                  <a:srgbClr val="9333EA"/>
                </a:solidFill>
                <a:latin typeface="Inter"/>
              </a:defRPr>
            </a:pPr>
            <a:r>
              <a:rPr i="0" sz="4800" b="1">
                <a:solidFill>
                  <a:srgbClr val="9333EA"/>
                </a:solidFill>
                <a:latin typeface="Inter"/>
              </a:rPr>
              <a:t>4.2 milliards DZD</a:t>
            </a:r>
          </a:p>
        </p:txBody>
      </p:sp>
      <p:sp>
        <p:nvSpPr>
          <p:cNvPr id="10" name="TextBox 9"/>
          <p:cNvSpPr txBox="1"/>
          <p:nvPr/>
        </p:nvSpPr>
        <p:spPr>
          <a:xfrm>
            <a:off x="12039600" y="4622800"/>
            <a:ext cx="3225800" cy="254000"/>
          </a:xfrm>
          <a:prstGeom prst="rect">
            <a:avLst/>
          </a:prstGeom>
          <a:noFill/>
        </p:spPr>
        <p:txBody>
          <a:bodyPr wrap="square" lIns="0" rIns="0" tIns="0" bIns="0">
            <a:spAutoFit/>
          </a:bodyPr>
          <a:lstStyle/>
          <a:p>
            <a:pPr algn="ctr">
              <a:defRPr i="0" sz="1400" b="0">
                <a:solidFill>
                  <a:srgbClr val="4B5563"/>
                </a:solidFill>
                <a:latin typeface="Inter"/>
              </a:defRPr>
            </a:pPr>
            <a:r>
              <a:rPr i="0" sz="1400" b="0">
                <a:solidFill>
                  <a:srgbClr val="4B5563"/>
                </a:solidFill>
                <a:latin typeface="Inter"/>
              </a:rPr>
              <a:t>MRR Projeté</a:t>
            </a:r>
          </a:p>
        </p:txBody>
      </p:sp>
      <p:sp>
        <p:nvSpPr>
          <p:cNvPr id="11" name="TextBox 10"/>
          <p:cNvSpPr txBox="1"/>
          <p:nvPr/>
        </p:nvSpPr>
        <p:spPr>
          <a:xfrm>
            <a:off x="12039600" y="4978400"/>
            <a:ext cx="3225800" cy="1828800"/>
          </a:xfrm>
          <a:prstGeom prst="rect">
            <a:avLst/>
          </a:prstGeom>
          <a:noFill/>
        </p:spPr>
        <p:txBody>
          <a:bodyPr wrap="square" lIns="0" rIns="0" tIns="0" bIns="0">
            <a:spAutoFit/>
          </a:bodyPr>
          <a:lstStyle/>
          <a:p>
            <a:pPr algn="ctr">
              <a:lnSpc>
                <a:spcPct val="70000"/>
              </a:lnSpc>
              <a:defRPr i="0" sz="4800" b="1">
                <a:solidFill>
                  <a:srgbClr val="9333EA"/>
                </a:solidFill>
                <a:latin typeface="Inter"/>
              </a:defRPr>
            </a:pPr>
            <a:r>
              <a:rPr i="0" sz="4800" b="1">
                <a:solidFill>
                  <a:srgbClr val="9333EA"/>
                </a:solidFill>
                <a:latin typeface="Inter"/>
              </a:rPr>
              <a:t>350.2 millions DZD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Traction: Certifications et Expertise</a:t>
            </a:r>
          </a:p>
        </p:txBody>
      </p:sp>
      <p:pic>
        <p:nvPicPr>
          <p:cNvPr id="3" name="Picture 2" descr="7116f80e-fcf7-4645-820a-8f3570d2e941.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74e71145-6545-4ab8-8556-9f73feadc4d6.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4384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Notre engagement envers la qualité et l'innovation est démontré par nos objectifs de certification et notre équipe expérimentée.</a:t>
            </a:r>
          </a:p>
        </p:txBody>
      </p:sp>
      <p:sp>
        <p:nvSpPr>
          <p:cNvPr id="6" name="Rounded Rectangle 5"/>
          <p:cNvSpPr/>
          <p:nvPr/>
        </p:nvSpPr>
        <p:spPr>
          <a:xfrm>
            <a:off x="8534400" y="35814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f84b3965-8d0b-47cf-88b7-705d3c2e399a.png"/>
          <p:cNvPicPr>
            <a:picLocks noChangeAspect="1"/>
          </p:cNvPicPr>
          <p:nvPr/>
        </p:nvPicPr>
        <p:blipFill>
          <a:blip r:embed="rId5"/>
          <a:stretch>
            <a:fillRect/>
          </a:stretch>
        </p:blipFill>
        <p:spPr>
          <a:xfrm>
            <a:off x="8686800" y="3746500"/>
            <a:ext cx="304800" cy="304800"/>
          </a:xfrm>
          <a:prstGeom prst="rect">
            <a:avLst/>
          </a:prstGeom>
        </p:spPr>
      </p:pic>
      <p:sp>
        <p:nvSpPr>
          <p:cNvPr id="8" name="TextBox 7"/>
          <p:cNvSpPr txBox="1"/>
          <p:nvPr/>
        </p:nvSpPr>
        <p:spPr>
          <a:xfrm>
            <a:off x="9347200" y="35814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Certifications ISO</a:t>
            </a:r>
          </a:p>
        </p:txBody>
      </p:sp>
      <p:sp>
        <p:nvSpPr>
          <p:cNvPr id="9" name="Rounded Rectangle 8"/>
          <p:cNvSpPr/>
          <p:nvPr/>
        </p:nvSpPr>
        <p:spPr>
          <a:xfrm>
            <a:off x="9347200" y="40386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2164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Visons ISO 9001 et 14001 pour assurer qualité de gestion et engagement environnemental.</a:t>
            </a:r>
          </a:p>
        </p:txBody>
      </p:sp>
      <p:sp>
        <p:nvSpPr>
          <p:cNvPr id="11" name="Rounded Rectangle 10"/>
          <p:cNvSpPr/>
          <p:nvPr/>
        </p:nvSpPr>
        <p:spPr>
          <a:xfrm>
            <a:off x="8534400" y="51816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b02bad29-8040-4bde-b4cd-c68ffbd8e06c.png"/>
          <p:cNvPicPr>
            <a:picLocks noChangeAspect="1"/>
          </p:cNvPicPr>
          <p:nvPr/>
        </p:nvPicPr>
        <p:blipFill>
          <a:blip r:embed="rId6"/>
          <a:stretch>
            <a:fillRect/>
          </a:stretch>
        </p:blipFill>
        <p:spPr>
          <a:xfrm>
            <a:off x="8686800" y="5346700"/>
            <a:ext cx="304800" cy="304800"/>
          </a:xfrm>
          <a:prstGeom prst="rect">
            <a:avLst/>
          </a:prstGeom>
        </p:spPr>
      </p:pic>
      <p:sp>
        <p:nvSpPr>
          <p:cNvPr id="13" name="TextBox 12"/>
          <p:cNvSpPr txBox="1"/>
          <p:nvPr/>
        </p:nvSpPr>
        <p:spPr>
          <a:xfrm>
            <a:off x="9347200" y="51816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Capacité de Production</a:t>
            </a:r>
          </a:p>
        </p:txBody>
      </p:sp>
      <p:sp>
        <p:nvSpPr>
          <p:cNvPr id="14" name="Rounded Rectangle 13"/>
          <p:cNvSpPr/>
          <p:nvPr/>
        </p:nvSpPr>
        <p:spPr>
          <a:xfrm>
            <a:off x="9347200" y="56388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8166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Couvrons 10 gammes de produits diversifiées, répondant à un large éventail de besoins du marché.</a:t>
            </a:r>
          </a:p>
        </p:txBody>
      </p:sp>
      <p:sp>
        <p:nvSpPr>
          <p:cNvPr id="16" name="Rounded Rectangle 15"/>
          <p:cNvSpPr/>
          <p:nvPr/>
        </p:nvSpPr>
        <p:spPr>
          <a:xfrm>
            <a:off x="8534400" y="67818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7ee0014b-16c8-4aa8-a83b-8f0cc162b9c3.png"/>
          <p:cNvPicPr>
            <a:picLocks noChangeAspect="1"/>
          </p:cNvPicPr>
          <p:nvPr/>
        </p:nvPicPr>
        <p:blipFill>
          <a:blip r:embed="rId7"/>
          <a:stretch>
            <a:fillRect/>
          </a:stretch>
        </p:blipFill>
        <p:spPr>
          <a:xfrm>
            <a:off x="8686800" y="6946900"/>
            <a:ext cx="304800" cy="304800"/>
          </a:xfrm>
          <a:prstGeom prst="rect">
            <a:avLst/>
          </a:prstGeom>
        </p:spPr>
      </p:pic>
      <p:sp>
        <p:nvSpPr>
          <p:cNvPr id="18" name="TextBox 17"/>
          <p:cNvSpPr txBox="1"/>
          <p:nvPr/>
        </p:nvSpPr>
        <p:spPr>
          <a:xfrm>
            <a:off x="9347200" y="67818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Expertise Reconnue</a:t>
            </a:r>
          </a:p>
        </p:txBody>
      </p:sp>
      <p:sp>
        <p:nvSpPr>
          <p:cNvPr id="19" name="Rounded Rectangle 18"/>
          <p:cNvSpPr/>
          <p:nvPr/>
        </p:nvSpPr>
        <p:spPr>
          <a:xfrm>
            <a:off x="9347200" y="72390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4168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Équipe de professionnels expérimentés, moteur d'innovation et d'excellence opérationnelle dans l'industrie.</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3fa586dc-3a63-4446-a391-f88c59a4f2b6.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Stratégie Commerciale</a:t>
            </a:r>
          </a:p>
        </p:txBody>
      </p:sp>
      <p:pic>
        <p:nvPicPr>
          <p:cNvPr id="3" name="Picture 2" descr="7116f80e-fcf7-4645-820a-8f3570d2e941.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74e71145-6545-4ab8-8556-9f73feadc4d6.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4384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Notre stratégie de pénétration de marché est axée sur l'efficacité, la visibilité et des avantages opérationnels clairs.</a:t>
            </a:r>
          </a:p>
        </p:txBody>
      </p:sp>
      <p:sp>
        <p:nvSpPr>
          <p:cNvPr id="6" name="Rounded Rectangle 5"/>
          <p:cNvSpPr/>
          <p:nvPr/>
        </p:nvSpPr>
        <p:spPr>
          <a:xfrm>
            <a:off x="8534400" y="35814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ee02a931-fd6d-4b70-b380-c0ce2547e715.png"/>
          <p:cNvPicPr>
            <a:picLocks noChangeAspect="1"/>
          </p:cNvPicPr>
          <p:nvPr/>
        </p:nvPicPr>
        <p:blipFill>
          <a:blip r:embed="rId5"/>
          <a:stretch>
            <a:fillRect/>
          </a:stretch>
        </p:blipFill>
        <p:spPr>
          <a:xfrm>
            <a:off x="8686800" y="3746500"/>
            <a:ext cx="304800" cy="304800"/>
          </a:xfrm>
          <a:prstGeom prst="rect">
            <a:avLst/>
          </a:prstGeom>
        </p:spPr>
      </p:pic>
      <p:sp>
        <p:nvSpPr>
          <p:cNvPr id="8" name="TextBox 7"/>
          <p:cNvSpPr txBox="1"/>
          <p:nvPr/>
        </p:nvSpPr>
        <p:spPr>
          <a:xfrm>
            <a:off x="9347200" y="35814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Ventes &amp; Marketing Directs</a:t>
            </a:r>
          </a:p>
        </p:txBody>
      </p:sp>
      <p:sp>
        <p:nvSpPr>
          <p:cNvPr id="9" name="Rounded Rectangle 8"/>
          <p:cNvSpPr/>
          <p:nvPr/>
        </p:nvSpPr>
        <p:spPr>
          <a:xfrm>
            <a:off x="9347200" y="40386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2164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Ciblage industriel précis et participation aux salons professionnels pour une visibilité maximale.</a:t>
            </a:r>
          </a:p>
        </p:txBody>
      </p:sp>
      <p:sp>
        <p:nvSpPr>
          <p:cNvPr id="11" name="Rounded Rectangle 10"/>
          <p:cNvSpPr/>
          <p:nvPr/>
        </p:nvSpPr>
        <p:spPr>
          <a:xfrm>
            <a:off x="8534400" y="51816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c72fdb47-ff74-4102-b5a9-cb2e14f653b7.png"/>
          <p:cNvPicPr>
            <a:picLocks noChangeAspect="1"/>
          </p:cNvPicPr>
          <p:nvPr/>
        </p:nvPicPr>
        <p:blipFill>
          <a:blip r:embed="rId6"/>
          <a:stretch>
            <a:fillRect/>
          </a:stretch>
        </p:blipFill>
        <p:spPr>
          <a:xfrm>
            <a:off x="8686800" y="5346700"/>
            <a:ext cx="304800" cy="304800"/>
          </a:xfrm>
          <a:prstGeom prst="rect">
            <a:avLst/>
          </a:prstGeom>
        </p:spPr>
      </p:pic>
      <p:sp>
        <p:nvSpPr>
          <p:cNvPr id="13" name="TextBox 12"/>
          <p:cNvSpPr txBox="1"/>
          <p:nvPr/>
        </p:nvSpPr>
        <p:spPr>
          <a:xfrm>
            <a:off x="9347200" y="51816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Avantage Opérationnel Clé</a:t>
            </a:r>
          </a:p>
        </p:txBody>
      </p:sp>
      <p:sp>
        <p:nvSpPr>
          <p:cNvPr id="14" name="Rounded Rectangle 13"/>
          <p:cNvSpPr/>
          <p:nvPr/>
        </p:nvSpPr>
        <p:spPr>
          <a:xfrm>
            <a:off x="9347200" y="56388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8166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Production locale offrant qualité supérieure et livraison nationale rapide garantie sous 2 semaines.</a:t>
            </a:r>
          </a:p>
        </p:txBody>
      </p:sp>
      <p:sp>
        <p:nvSpPr>
          <p:cNvPr id="16" name="Rounded Rectangle 15"/>
          <p:cNvSpPr/>
          <p:nvPr/>
        </p:nvSpPr>
        <p:spPr>
          <a:xfrm>
            <a:off x="8534400" y="67818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3c1d71f8-5fdb-455f-95db-f091fe7af4d5.png"/>
          <p:cNvPicPr>
            <a:picLocks noChangeAspect="1"/>
          </p:cNvPicPr>
          <p:nvPr/>
        </p:nvPicPr>
        <p:blipFill>
          <a:blip r:embed="rId7"/>
          <a:stretch>
            <a:fillRect/>
          </a:stretch>
        </p:blipFill>
        <p:spPr>
          <a:xfrm>
            <a:off x="8686800" y="6946900"/>
            <a:ext cx="304800" cy="304800"/>
          </a:xfrm>
          <a:prstGeom prst="rect">
            <a:avLst/>
          </a:prstGeom>
        </p:spPr>
      </p:pic>
      <p:sp>
        <p:nvSpPr>
          <p:cNvPr id="18" name="TextBox 17"/>
          <p:cNvSpPr txBox="1"/>
          <p:nvPr/>
        </p:nvSpPr>
        <p:spPr>
          <a:xfrm>
            <a:off x="9347200" y="67818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Processus Client Optimisé</a:t>
            </a:r>
          </a:p>
        </p:txBody>
      </p:sp>
      <p:sp>
        <p:nvSpPr>
          <p:cNvPr id="19" name="Rounded Rectangle 18"/>
          <p:cNvSpPr/>
          <p:nvPr/>
        </p:nvSpPr>
        <p:spPr>
          <a:xfrm>
            <a:off x="9347200" y="72390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4168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Cycle de vente B2B efficace (2 à 4 mois), avec un fort accent sur la relation client et la réactivité.</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7876378f-ba92-4a22-ad38-479e4d853a52.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Concurrence: Positionnement Stratégique</a:t>
            </a:r>
          </a:p>
        </p:txBody>
      </p:sp>
      <p:pic>
        <p:nvPicPr>
          <p:cNvPr id="3" name="Picture 2" descr="7116f80e-fcf7-4645-820a-8f3570d2e941.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74e71145-6545-4ab8-8556-9f73feadc4d6.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247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Nous évoluons sur un marché compétitif, mais notre stratégie est claire pour nous démarquer durablement. Nous capitalisons sur nos atouts uniques.</a:t>
            </a:r>
          </a:p>
        </p:txBody>
      </p:sp>
      <p:sp>
        <p:nvSpPr>
          <p:cNvPr id="6" name="Rounded Rectangle 5"/>
          <p:cNvSpPr/>
          <p:nvPr/>
        </p:nvSpPr>
        <p:spPr>
          <a:xfrm>
            <a:off x="8534400" y="3771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c72fdb47-ff74-4102-b5a9-cb2e14f653b7.png"/>
          <p:cNvPicPr>
            <a:picLocks noChangeAspect="1"/>
          </p:cNvPicPr>
          <p:nvPr/>
        </p:nvPicPr>
        <p:blipFill>
          <a:blip r:embed="rId5"/>
          <a:stretch>
            <a:fillRect/>
          </a:stretch>
        </p:blipFill>
        <p:spPr>
          <a:xfrm>
            <a:off x="8686800" y="3937000"/>
            <a:ext cx="304800" cy="304800"/>
          </a:xfrm>
          <a:prstGeom prst="rect">
            <a:avLst/>
          </a:prstGeom>
        </p:spPr>
      </p:pic>
      <p:sp>
        <p:nvSpPr>
          <p:cNvPr id="8" name="TextBox 7"/>
          <p:cNvSpPr txBox="1"/>
          <p:nvPr/>
        </p:nvSpPr>
        <p:spPr>
          <a:xfrm>
            <a:off x="9347200" y="3771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Défis Concurrentiels</a:t>
            </a:r>
          </a:p>
        </p:txBody>
      </p:sp>
      <p:sp>
        <p:nvSpPr>
          <p:cNvPr id="9" name="Rounded Rectangle 8"/>
          <p:cNvSpPr/>
          <p:nvPr/>
        </p:nvSpPr>
        <p:spPr>
          <a:xfrm>
            <a:off x="9347200" y="4229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406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Nous affrontons des importateurs d'Asie et d'Europe, ainsi que des producteurs locaux fragmentés.</a:t>
            </a:r>
          </a:p>
        </p:txBody>
      </p:sp>
      <p:sp>
        <p:nvSpPr>
          <p:cNvPr id="11" name="Rounded Rectangle 10"/>
          <p:cNvSpPr/>
          <p:nvPr/>
        </p:nvSpPr>
        <p:spPr>
          <a:xfrm>
            <a:off x="8534400" y="5372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c72fdb47-ff74-4102-b5a9-cb2e14f653b7.png"/>
          <p:cNvPicPr>
            <a:picLocks noChangeAspect="1"/>
          </p:cNvPicPr>
          <p:nvPr/>
        </p:nvPicPr>
        <p:blipFill>
          <a:blip r:embed="rId5"/>
          <a:stretch>
            <a:fillRect/>
          </a:stretch>
        </p:blipFill>
        <p:spPr>
          <a:xfrm>
            <a:off x="8686800" y="5537200"/>
            <a:ext cx="304800" cy="304800"/>
          </a:xfrm>
          <a:prstGeom prst="rect">
            <a:avLst/>
          </a:prstGeom>
        </p:spPr>
      </p:pic>
      <p:sp>
        <p:nvSpPr>
          <p:cNvPr id="13" name="TextBox 12"/>
          <p:cNvSpPr txBox="1"/>
          <p:nvPr/>
        </p:nvSpPr>
        <p:spPr>
          <a:xfrm>
            <a:off x="9347200" y="5372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Notre Différenciation Clé</a:t>
            </a:r>
          </a:p>
        </p:txBody>
      </p:sp>
      <p:sp>
        <p:nvSpPr>
          <p:cNvPr id="14" name="Rounded Rectangle 13"/>
          <p:cNvSpPr/>
          <p:nvPr/>
        </p:nvSpPr>
        <p:spPr>
          <a:xfrm>
            <a:off x="9347200" y="5829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007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Notre positionnement est sur la production locale de haute qualité à un prix compétitif.</a:t>
            </a:r>
          </a:p>
        </p:txBody>
      </p:sp>
      <p:sp>
        <p:nvSpPr>
          <p:cNvPr id="16" name="Rounded Rectangle 15"/>
          <p:cNvSpPr/>
          <p:nvPr/>
        </p:nvSpPr>
        <p:spPr>
          <a:xfrm>
            <a:off x="8534400" y="6972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0b6088a9-b187-44b2-be4b-2fe869293661.png"/>
          <p:cNvPicPr>
            <a:picLocks noChangeAspect="1"/>
          </p:cNvPicPr>
          <p:nvPr/>
        </p:nvPicPr>
        <p:blipFill>
          <a:blip r:embed="rId6"/>
          <a:stretch>
            <a:fillRect/>
          </a:stretch>
        </p:blipFill>
        <p:spPr>
          <a:xfrm>
            <a:off x="8686800" y="7137400"/>
            <a:ext cx="304800" cy="304800"/>
          </a:xfrm>
          <a:prstGeom prst="rect">
            <a:avLst/>
          </a:prstGeom>
        </p:spPr>
      </p:pic>
      <p:sp>
        <p:nvSpPr>
          <p:cNvPr id="18" name="TextBox 17"/>
          <p:cNvSpPr txBox="1"/>
          <p:nvPr/>
        </p:nvSpPr>
        <p:spPr>
          <a:xfrm>
            <a:off x="9347200" y="6972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Atouts Stratégiques</a:t>
            </a:r>
          </a:p>
        </p:txBody>
      </p:sp>
      <p:sp>
        <p:nvSpPr>
          <p:cNvPr id="19" name="Rounded Rectangle 18"/>
          <p:cNvSpPr/>
          <p:nvPr/>
        </p:nvSpPr>
        <p:spPr>
          <a:xfrm>
            <a:off x="9347200" y="7429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607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Notre expertise locale, des partenariats technologiques et une proximité client inégalée.</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713bd42c-132d-41d4-8de0-281587f2f1f5.png"/>
          <p:cNvPicPr>
            <a:picLocks noChangeAspect="1"/>
          </p:cNvPicPr>
          <p:nvPr/>
        </p:nvPicPr>
        <p:blipFill>
          <a:blip r:embed="rId7"/>
          <a:stretch>
            <a:fillRect/>
          </a:stretch>
        </p:blipFill>
        <p:spPr>
          <a:xfrm>
            <a:off x="1524000" y="3225800"/>
            <a:ext cx="5689600" cy="4064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daea71fb-f75c-487b-b4cc-10e0bb129f7e.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184400"/>
            <a:ext cx="6731000" cy="2286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Conclusion: Investissez dans l'Avenir Industriel</a:t>
            </a:r>
          </a:p>
        </p:txBody>
      </p:sp>
      <p:sp>
        <p:nvSpPr>
          <p:cNvPr id="5" name="Rounded Rectangle 4"/>
          <p:cNvSpPr/>
          <p:nvPr/>
        </p:nvSpPr>
        <p:spPr>
          <a:xfrm>
            <a:off x="8534400" y="47752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130800"/>
            <a:ext cx="6731000" cy="14224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Nous sommes prêts à transformer l'industrie locale et réduire la dépendance aux importations. Un investissement de 14.0 milliards DZD permettra de concrétiser notre complexe industriel et assurer un avenir prospère.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